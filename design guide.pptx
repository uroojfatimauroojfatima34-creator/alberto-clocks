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67" r:id="rId4"/>
    <p:sldId id="258" r:id="rId5"/>
    <p:sldId id="268" r:id="rId6"/>
    <p:sldId id="269" r:id="rId7"/>
    <p:sldId id="270" r:id="rId8"/>
    <p:sldId id="271" r:id="rId9"/>
    <p:sldId id="272" r:id="rId10"/>
    <p:sldId id="273" r:id="rId11"/>
    <p:sldId id="274" r:id="rId12"/>
    <p:sldId id="266" r:id="rId13"/>
  </p:sldIdLst>
  <p:sldSz cx="18288000" cy="10287000"/>
  <p:notesSz cx="6858000" cy="9144000"/>
  <p:embeddedFontLst>
    <p:embeddedFont>
      <p:font typeface="Arial Narrow" panose="020B0606020202030204" pitchFamily="34" charset="0"/>
      <p:regular r:id="rId15"/>
      <p:bold r:id="rId16"/>
      <p:italic r:id="rId17"/>
      <p:boldItalic r:id="rId18"/>
    </p:embeddedFont>
    <p:embeddedFont>
      <p:font typeface="Arimo Bold Italics" panose="020B0604020202020204" charset="0"/>
      <p:regular r:id="rId19"/>
    </p:embeddedFont>
    <p:embeddedFont>
      <p:font typeface="Book Antiqua" panose="02040602050305030304" pitchFamily="18" charset="0"/>
      <p:regular r:id="rId20"/>
      <p:bold r:id="rId21"/>
      <p:italic r:id="rId22"/>
      <p:boldItalic r:id="rId23"/>
    </p:embeddedFont>
    <p:embeddedFont>
      <p:font typeface="Maven Pro Bold" panose="020B0604020202020204" charset="0"/>
      <p:regular r:id="rId24"/>
    </p:embeddedFont>
    <p:embeddedFont>
      <p:font typeface="Poppins" panose="00000500000000000000" pitchFamily="2" charset="0"/>
      <p:regular r:id="rId25"/>
      <p:bold r:id="rId26"/>
      <p:italic r:id="rId27"/>
      <p:boldItalic r:id="rId28"/>
    </p:embeddedFont>
    <p:embeddedFont>
      <p:font typeface="Poppins Bold" panose="00000800000000000000"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87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D7907A-39F5-4155-9698-C8059BB2BC9B}"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C1C753-5F0A-4691-9DAA-F16711DC74CB}" type="slidenum">
              <a:rPr lang="en-US" smtClean="0"/>
              <a:t>‹#›</a:t>
            </a:fld>
            <a:endParaRPr lang="en-US"/>
          </a:p>
        </p:txBody>
      </p:sp>
    </p:spTree>
    <p:extLst>
      <p:ext uri="{BB962C8B-B14F-4D97-AF65-F5344CB8AC3E}">
        <p14:creationId xmlns:p14="http://schemas.microsoft.com/office/powerpoint/2010/main" val="1236228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C1C753-5F0A-4691-9DAA-F16711DC74CB}" type="slidenum">
              <a:rPr lang="en-US" smtClean="0"/>
              <a:t>1</a:t>
            </a:fld>
            <a:endParaRPr lang="en-US"/>
          </a:p>
        </p:txBody>
      </p:sp>
    </p:spTree>
    <p:extLst>
      <p:ext uri="{BB962C8B-B14F-4D97-AF65-F5344CB8AC3E}">
        <p14:creationId xmlns:p14="http://schemas.microsoft.com/office/powerpoint/2010/main" val="2608921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l="-12681" t="-8434" r="-5731" b="-11819"/>
            </a:stretch>
          </a:blipFill>
        </p:spPr>
      </p:sp>
      <p:sp>
        <p:nvSpPr>
          <p:cNvPr id="3" name="Freeform 3"/>
          <p:cNvSpPr/>
          <p:nvPr/>
        </p:nvSpPr>
        <p:spPr>
          <a:xfrm rot="5400000">
            <a:off x="105177" y="6023399"/>
            <a:ext cx="4190896" cy="4458400"/>
          </a:xfrm>
          <a:custGeom>
            <a:avLst/>
            <a:gdLst/>
            <a:ahLst/>
            <a:cxnLst/>
            <a:rect l="l" t="t" r="r" b="b"/>
            <a:pathLst>
              <a:path w="4190896" h="4458400">
                <a:moveTo>
                  <a:pt x="0" y="0"/>
                </a:moveTo>
                <a:lnTo>
                  <a:pt x="4190896" y="0"/>
                </a:lnTo>
                <a:lnTo>
                  <a:pt x="4190896" y="4458400"/>
                </a:lnTo>
                <a:lnTo>
                  <a:pt x="0" y="44584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3994197" y="-194729"/>
            <a:ext cx="4188696" cy="4456059"/>
          </a:xfrm>
          <a:custGeom>
            <a:avLst/>
            <a:gdLst/>
            <a:ahLst/>
            <a:cxnLst/>
            <a:rect l="l" t="t" r="r" b="b"/>
            <a:pathLst>
              <a:path w="4188696" h="4456059">
                <a:moveTo>
                  <a:pt x="4188696" y="4456060"/>
                </a:moveTo>
                <a:lnTo>
                  <a:pt x="0" y="4456060"/>
                </a:lnTo>
                <a:lnTo>
                  <a:pt x="0" y="0"/>
                </a:lnTo>
                <a:lnTo>
                  <a:pt x="4188696" y="0"/>
                </a:lnTo>
                <a:lnTo>
                  <a:pt x="4188696" y="445606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708767">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1708767"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5020392" y="1288751"/>
            <a:ext cx="8247217" cy="1516672"/>
          </a:xfrm>
          <a:prstGeom prst="rect">
            <a:avLst/>
          </a:prstGeom>
        </p:spPr>
        <p:txBody>
          <a:bodyPr lIns="0" tIns="0" rIns="0" bIns="0" rtlCol="0" anchor="t">
            <a:spAutoFit/>
          </a:bodyPr>
          <a:lstStyle/>
          <a:p>
            <a:pPr algn="ctr">
              <a:lnSpc>
                <a:spcPts val="12327"/>
              </a:lnSpc>
            </a:pPr>
            <a:r>
              <a:rPr lang="en-US" sz="8805" b="1">
                <a:solidFill>
                  <a:srgbClr val="171717"/>
                </a:solidFill>
                <a:latin typeface="Maven Pro Bold"/>
                <a:ea typeface="Maven Pro Bold"/>
                <a:cs typeface="Maven Pro Bold"/>
                <a:sym typeface="Maven Pro Bold"/>
              </a:rPr>
              <a:t>E PROJECT: </a:t>
            </a:r>
          </a:p>
        </p:txBody>
      </p:sp>
      <p:sp>
        <p:nvSpPr>
          <p:cNvPr id="8" name="TextBox 8"/>
          <p:cNvSpPr txBox="1"/>
          <p:nvPr/>
        </p:nvSpPr>
        <p:spPr>
          <a:xfrm>
            <a:off x="-609600" y="4682803"/>
            <a:ext cx="18926175" cy="5689763"/>
          </a:xfrm>
          <a:prstGeom prst="rect">
            <a:avLst/>
          </a:prstGeom>
        </p:spPr>
        <p:txBody>
          <a:bodyPr wrap="square" lIns="0" tIns="0" rIns="0" bIns="0" rtlCol="0" anchor="t">
            <a:spAutoFit/>
          </a:bodyPr>
          <a:lstStyle/>
          <a:p>
            <a:pPr algn="ctr">
              <a:lnSpc>
                <a:spcPts val="23174"/>
              </a:lnSpc>
            </a:pPr>
            <a:r>
              <a:rPr lang="en-US" sz="16553" b="1" i="1" dirty="0">
                <a:solidFill>
                  <a:srgbClr val="171717"/>
                </a:solidFill>
                <a:latin typeface="Arimo Bold Italics"/>
                <a:ea typeface="Arimo Bold Italics"/>
                <a:cs typeface="Arimo Bold Italics"/>
                <a:sym typeface="Arimo Bold Italics"/>
              </a:rPr>
              <a:t>Design guide</a:t>
            </a:r>
          </a:p>
          <a:p>
            <a:pPr algn="ctr">
              <a:lnSpc>
                <a:spcPts val="23174"/>
              </a:lnSpc>
            </a:pPr>
            <a:endParaRPr lang="en-US" sz="16553" b="1" i="1" dirty="0">
              <a:solidFill>
                <a:srgbClr val="171717"/>
              </a:solidFill>
              <a:latin typeface="Arimo Bold Italics"/>
              <a:ea typeface="Arimo Bold Italics"/>
              <a:cs typeface="Arimo Bold Italics"/>
              <a:sym typeface="Arimo Bold Italics"/>
            </a:endParaRPr>
          </a:p>
        </p:txBody>
      </p:sp>
      <p:sp>
        <p:nvSpPr>
          <p:cNvPr id="9" name="TextBox 9"/>
          <p:cNvSpPr txBox="1"/>
          <p:nvPr/>
        </p:nvSpPr>
        <p:spPr>
          <a:xfrm>
            <a:off x="3651416" y="2282898"/>
            <a:ext cx="10548611" cy="1844751"/>
          </a:xfrm>
          <a:prstGeom prst="rect">
            <a:avLst/>
          </a:prstGeom>
        </p:spPr>
        <p:txBody>
          <a:bodyPr lIns="0" tIns="0" rIns="0" bIns="0" rtlCol="0" anchor="t">
            <a:spAutoFit/>
          </a:bodyPr>
          <a:lstStyle/>
          <a:p>
            <a:pPr algn="ctr">
              <a:lnSpc>
                <a:spcPts val="14300"/>
              </a:lnSpc>
            </a:pPr>
            <a:r>
              <a:rPr lang="en-US" sz="10214">
                <a:solidFill>
                  <a:srgbClr val="171717"/>
                </a:solidFill>
                <a:latin typeface="Poppins"/>
                <a:ea typeface="Poppins"/>
                <a:cs typeface="Poppins"/>
                <a:sym typeface="Poppins"/>
              </a:rPr>
              <a:t>Alberto Clocks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p:spPr>
        <p:txBody>
          <a:bodyPr/>
          <a:lstStyle/>
          <a:p>
            <a:endParaRPr lang="en-US" dirty="0"/>
          </a:p>
        </p:txBody>
      </p:sp>
      <p:sp>
        <p:nvSpPr>
          <p:cNvPr id="3" name="Freeform 3"/>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708767">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1708767"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461769" y="768644"/>
            <a:ext cx="19211538" cy="1104265"/>
          </a:xfrm>
          <a:prstGeom prst="rect">
            <a:avLst/>
          </a:prstGeom>
        </p:spPr>
        <p:txBody>
          <a:bodyPr lIns="0" tIns="0" rIns="0" bIns="0" rtlCol="0" anchor="t">
            <a:spAutoFit/>
          </a:bodyPr>
          <a:lstStyle/>
          <a:p>
            <a:pPr algn="ctr">
              <a:lnSpc>
                <a:spcPts val="8959"/>
              </a:lnSpc>
            </a:pPr>
            <a:r>
              <a:rPr lang="en-US" sz="6399" b="1">
                <a:solidFill>
                  <a:srgbClr val="333333"/>
                </a:solidFill>
                <a:latin typeface="Maven Pro Bold"/>
                <a:ea typeface="Maven Pro Bold"/>
                <a:cs typeface="Maven Pro Bold"/>
                <a:sym typeface="Maven Pro Bold"/>
              </a:rPr>
              <a:t>E PROJECT GROUP MEMBERS </a:t>
            </a:r>
          </a:p>
        </p:txBody>
      </p:sp>
      <p:sp>
        <p:nvSpPr>
          <p:cNvPr id="8" name="AutoShape 8"/>
          <p:cNvSpPr/>
          <p:nvPr/>
        </p:nvSpPr>
        <p:spPr>
          <a:xfrm>
            <a:off x="3340188" y="2610590"/>
            <a:ext cx="11041503" cy="0"/>
          </a:xfrm>
          <a:prstGeom prst="line">
            <a:avLst/>
          </a:prstGeom>
          <a:ln w="57150" cap="flat">
            <a:solidFill>
              <a:srgbClr val="000000"/>
            </a:solidFill>
            <a:prstDash val="solid"/>
            <a:headEnd type="none" w="sm" len="sm"/>
            <a:tailEnd type="none" w="sm" len="sm"/>
          </a:ln>
        </p:spPr>
      </p:sp>
      <p:sp>
        <p:nvSpPr>
          <p:cNvPr id="9" name="AutoShape 9"/>
          <p:cNvSpPr/>
          <p:nvPr/>
        </p:nvSpPr>
        <p:spPr>
          <a:xfrm flipV="1">
            <a:off x="3316375" y="2581918"/>
            <a:ext cx="23812" cy="5803403"/>
          </a:xfrm>
          <a:prstGeom prst="line">
            <a:avLst/>
          </a:prstGeom>
          <a:ln w="47625" cap="flat">
            <a:solidFill>
              <a:srgbClr val="000000"/>
            </a:solidFill>
            <a:prstDash val="solid"/>
            <a:headEnd type="none" w="sm" len="sm"/>
            <a:tailEnd type="none" w="sm" len="sm"/>
          </a:ln>
        </p:spPr>
      </p:sp>
      <p:sp>
        <p:nvSpPr>
          <p:cNvPr id="10" name="AutoShape 10"/>
          <p:cNvSpPr/>
          <p:nvPr/>
        </p:nvSpPr>
        <p:spPr>
          <a:xfrm>
            <a:off x="3364000" y="3792498"/>
            <a:ext cx="11041503" cy="0"/>
          </a:xfrm>
          <a:prstGeom prst="line">
            <a:avLst/>
          </a:prstGeom>
          <a:ln w="57150" cap="flat">
            <a:solidFill>
              <a:srgbClr val="000000"/>
            </a:solidFill>
            <a:prstDash val="solid"/>
            <a:headEnd type="none" w="sm" len="sm"/>
            <a:tailEnd type="none" w="sm" len="sm"/>
          </a:ln>
        </p:spPr>
      </p:sp>
      <p:sp>
        <p:nvSpPr>
          <p:cNvPr id="11" name="AutoShape 11"/>
          <p:cNvSpPr/>
          <p:nvPr/>
        </p:nvSpPr>
        <p:spPr>
          <a:xfrm>
            <a:off x="3340188" y="8385418"/>
            <a:ext cx="11041503" cy="0"/>
          </a:xfrm>
          <a:prstGeom prst="line">
            <a:avLst/>
          </a:prstGeom>
          <a:ln w="57150" cap="flat">
            <a:solidFill>
              <a:srgbClr val="000000"/>
            </a:solidFill>
            <a:prstDash val="solid"/>
            <a:headEnd type="none" w="sm" len="sm"/>
            <a:tailEnd type="none" w="sm" len="sm"/>
          </a:ln>
        </p:spPr>
      </p:sp>
      <p:sp>
        <p:nvSpPr>
          <p:cNvPr id="12" name="AutoShape 12"/>
          <p:cNvSpPr/>
          <p:nvPr/>
        </p:nvSpPr>
        <p:spPr>
          <a:xfrm flipV="1">
            <a:off x="14381690" y="2610590"/>
            <a:ext cx="23812" cy="5803403"/>
          </a:xfrm>
          <a:prstGeom prst="line">
            <a:avLst/>
          </a:prstGeom>
          <a:ln w="47625" cap="flat">
            <a:solidFill>
              <a:srgbClr val="000000"/>
            </a:solidFill>
            <a:prstDash val="solid"/>
            <a:headEnd type="none" w="sm" len="sm"/>
            <a:tailEnd type="none" w="sm" len="sm"/>
          </a:ln>
        </p:spPr>
      </p:sp>
      <p:sp>
        <p:nvSpPr>
          <p:cNvPr id="13" name="AutoShape 13"/>
          <p:cNvSpPr/>
          <p:nvPr/>
        </p:nvSpPr>
        <p:spPr>
          <a:xfrm>
            <a:off x="3364000" y="4932322"/>
            <a:ext cx="11041503" cy="0"/>
          </a:xfrm>
          <a:prstGeom prst="line">
            <a:avLst/>
          </a:prstGeom>
          <a:ln w="57150" cap="flat">
            <a:solidFill>
              <a:srgbClr val="000000"/>
            </a:solidFill>
            <a:prstDash val="solid"/>
            <a:headEnd type="none" w="sm" len="sm"/>
            <a:tailEnd type="none" w="sm" len="sm"/>
          </a:ln>
        </p:spPr>
      </p:sp>
      <p:sp>
        <p:nvSpPr>
          <p:cNvPr id="14" name="AutoShape 14"/>
          <p:cNvSpPr/>
          <p:nvPr/>
        </p:nvSpPr>
        <p:spPr>
          <a:xfrm>
            <a:off x="3364000" y="6081672"/>
            <a:ext cx="11041503" cy="0"/>
          </a:xfrm>
          <a:prstGeom prst="line">
            <a:avLst/>
          </a:prstGeom>
          <a:ln w="57150" cap="flat">
            <a:solidFill>
              <a:srgbClr val="000000"/>
            </a:solidFill>
            <a:prstDash val="solid"/>
            <a:headEnd type="none" w="sm" len="sm"/>
            <a:tailEnd type="none" w="sm" len="sm"/>
          </a:ln>
        </p:spPr>
      </p:sp>
      <p:sp>
        <p:nvSpPr>
          <p:cNvPr id="15" name="AutoShape 15"/>
          <p:cNvSpPr/>
          <p:nvPr/>
        </p:nvSpPr>
        <p:spPr>
          <a:xfrm>
            <a:off x="3364000" y="7231022"/>
            <a:ext cx="11041503" cy="0"/>
          </a:xfrm>
          <a:prstGeom prst="line">
            <a:avLst/>
          </a:prstGeom>
          <a:ln w="57150" cap="flat">
            <a:solidFill>
              <a:srgbClr val="000000"/>
            </a:solidFill>
            <a:prstDash val="solid"/>
            <a:headEnd type="none" w="sm" len="sm"/>
            <a:tailEnd type="none" w="sm" len="sm"/>
          </a:ln>
        </p:spPr>
      </p:sp>
      <p:sp>
        <p:nvSpPr>
          <p:cNvPr id="16" name="AutoShape 16"/>
          <p:cNvSpPr/>
          <p:nvPr/>
        </p:nvSpPr>
        <p:spPr>
          <a:xfrm flipV="1">
            <a:off x="8782887" y="2638638"/>
            <a:ext cx="0" cy="5775355"/>
          </a:xfrm>
          <a:prstGeom prst="line">
            <a:avLst/>
          </a:prstGeom>
          <a:ln w="38100" cap="flat">
            <a:solidFill>
              <a:srgbClr val="000000"/>
            </a:solidFill>
            <a:prstDash val="solid"/>
            <a:headEnd type="none" w="sm" len="sm"/>
            <a:tailEnd type="none" w="sm" len="sm"/>
          </a:ln>
        </p:spPr>
      </p:sp>
      <p:sp>
        <p:nvSpPr>
          <p:cNvPr id="17" name="TextBox 17"/>
          <p:cNvSpPr txBox="1"/>
          <p:nvPr/>
        </p:nvSpPr>
        <p:spPr>
          <a:xfrm>
            <a:off x="3881818" y="2782848"/>
            <a:ext cx="4541193" cy="809625"/>
          </a:xfrm>
          <a:prstGeom prst="rect">
            <a:avLst/>
          </a:prstGeom>
        </p:spPr>
        <p:txBody>
          <a:bodyPr lIns="0" tIns="0" rIns="0" bIns="0" rtlCol="0" anchor="t">
            <a:spAutoFit/>
          </a:bodyPr>
          <a:lstStyle/>
          <a:p>
            <a:pPr algn="ctr">
              <a:lnSpc>
                <a:spcPts val="6299"/>
              </a:lnSpc>
              <a:spcBef>
                <a:spcPct val="0"/>
              </a:spcBef>
            </a:pPr>
            <a:r>
              <a:rPr lang="en-US" sz="4500" b="1">
                <a:solidFill>
                  <a:srgbClr val="333333"/>
                </a:solidFill>
                <a:latin typeface="Poppins Bold"/>
                <a:ea typeface="Poppins Bold"/>
                <a:cs typeface="Poppins Bold"/>
                <a:sym typeface="Poppins Bold"/>
              </a:rPr>
              <a:t>Students Name</a:t>
            </a:r>
          </a:p>
        </p:txBody>
      </p:sp>
      <p:sp>
        <p:nvSpPr>
          <p:cNvPr id="18" name="TextBox 18"/>
          <p:cNvSpPr txBox="1"/>
          <p:nvPr/>
        </p:nvSpPr>
        <p:spPr>
          <a:xfrm>
            <a:off x="9732816" y="2734819"/>
            <a:ext cx="3350196" cy="809625"/>
          </a:xfrm>
          <a:prstGeom prst="rect">
            <a:avLst/>
          </a:prstGeom>
        </p:spPr>
        <p:txBody>
          <a:bodyPr lIns="0" tIns="0" rIns="0" bIns="0" rtlCol="0" anchor="t">
            <a:spAutoFit/>
          </a:bodyPr>
          <a:lstStyle/>
          <a:p>
            <a:pPr algn="ctr">
              <a:lnSpc>
                <a:spcPts val="6299"/>
              </a:lnSpc>
              <a:spcBef>
                <a:spcPct val="0"/>
              </a:spcBef>
            </a:pPr>
            <a:r>
              <a:rPr lang="en-US" sz="4500" b="1">
                <a:solidFill>
                  <a:srgbClr val="333333"/>
                </a:solidFill>
                <a:latin typeface="Poppins Bold"/>
                <a:ea typeface="Poppins Bold"/>
                <a:cs typeface="Poppins Bold"/>
                <a:sym typeface="Poppins Bold"/>
              </a:rPr>
              <a:t>Students ID</a:t>
            </a:r>
          </a:p>
        </p:txBody>
      </p:sp>
      <p:sp>
        <p:nvSpPr>
          <p:cNvPr id="19" name="TextBox 19"/>
          <p:cNvSpPr txBox="1"/>
          <p:nvPr/>
        </p:nvSpPr>
        <p:spPr>
          <a:xfrm>
            <a:off x="4249052" y="3840123"/>
            <a:ext cx="3806726" cy="901700"/>
          </a:xfrm>
          <a:prstGeom prst="rect">
            <a:avLst/>
          </a:prstGeom>
        </p:spPr>
        <p:txBody>
          <a:bodyPr lIns="0" tIns="0" rIns="0" bIns="0" rtlCol="0" anchor="t">
            <a:spAutoFit/>
          </a:bodyPr>
          <a:lstStyle/>
          <a:p>
            <a:pPr algn="ctr">
              <a:lnSpc>
                <a:spcPts val="7000"/>
              </a:lnSpc>
              <a:spcBef>
                <a:spcPct val="0"/>
              </a:spcBef>
            </a:pPr>
            <a:r>
              <a:rPr lang="en-US" sz="5000">
                <a:solidFill>
                  <a:srgbClr val="333333"/>
                </a:solidFill>
                <a:latin typeface="Poppins"/>
                <a:ea typeface="Poppins"/>
                <a:cs typeface="Poppins"/>
                <a:sym typeface="Poppins"/>
              </a:rPr>
              <a:t>Tooba Khan</a:t>
            </a:r>
          </a:p>
        </p:txBody>
      </p:sp>
      <p:sp>
        <p:nvSpPr>
          <p:cNvPr id="20" name="TextBox 20"/>
          <p:cNvSpPr txBox="1"/>
          <p:nvPr/>
        </p:nvSpPr>
        <p:spPr>
          <a:xfrm>
            <a:off x="5013006" y="4979947"/>
            <a:ext cx="2101825" cy="901700"/>
          </a:xfrm>
          <a:prstGeom prst="rect">
            <a:avLst/>
          </a:prstGeom>
        </p:spPr>
        <p:txBody>
          <a:bodyPr lIns="0" tIns="0" rIns="0" bIns="0" rtlCol="0" anchor="t">
            <a:spAutoFit/>
          </a:bodyPr>
          <a:lstStyle/>
          <a:p>
            <a:pPr algn="ctr">
              <a:lnSpc>
                <a:spcPts val="7000"/>
              </a:lnSpc>
              <a:spcBef>
                <a:spcPct val="0"/>
              </a:spcBef>
            </a:pPr>
            <a:r>
              <a:rPr lang="en-US" sz="5000" dirty="0">
                <a:solidFill>
                  <a:srgbClr val="333333"/>
                </a:solidFill>
                <a:latin typeface="Poppins"/>
                <a:ea typeface="Poppins"/>
                <a:cs typeface="Poppins"/>
                <a:sym typeface="Poppins"/>
              </a:rPr>
              <a:t>Alvina </a:t>
            </a:r>
          </a:p>
        </p:txBody>
      </p:sp>
      <p:sp>
        <p:nvSpPr>
          <p:cNvPr id="21" name="TextBox 21"/>
          <p:cNvSpPr txBox="1"/>
          <p:nvPr/>
        </p:nvSpPr>
        <p:spPr>
          <a:xfrm>
            <a:off x="4202423" y="6129297"/>
            <a:ext cx="3374901" cy="901700"/>
          </a:xfrm>
          <a:prstGeom prst="rect">
            <a:avLst/>
          </a:prstGeom>
        </p:spPr>
        <p:txBody>
          <a:bodyPr lIns="0" tIns="0" rIns="0" bIns="0" rtlCol="0" anchor="t">
            <a:spAutoFit/>
          </a:bodyPr>
          <a:lstStyle/>
          <a:p>
            <a:pPr algn="ctr">
              <a:lnSpc>
                <a:spcPts val="7000"/>
              </a:lnSpc>
              <a:spcBef>
                <a:spcPct val="0"/>
              </a:spcBef>
            </a:pPr>
            <a:r>
              <a:rPr lang="en-US" sz="5000">
                <a:solidFill>
                  <a:srgbClr val="333333"/>
                </a:solidFill>
                <a:latin typeface="Poppins"/>
                <a:ea typeface="Poppins"/>
                <a:cs typeface="Poppins"/>
                <a:sym typeface="Poppins"/>
              </a:rPr>
              <a:t>Yusra Ilyas</a:t>
            </a:r>
          </a:p>
        </p:txBody>
      </p:sp>
      <p:sp>
        <p:nvSpPr>
          <p:cNvPr id="22" name="TextBox 22"/>
          <p:cNvSpPr txBox="1"/>
          <p:nvPr/>
        </p:nvSpPr>
        <p:spPr>
          <a:xfrm>
            <a:off x="4006797" y="7280155"/>
            <a:ext cx="4025131" cy="901700"/>
          </a:xfrm>
          <a:prstGeom prst="rect">
            <a:avLst/>
          </a:prstGeom>
        </p:spPr>
        <p:txBody>
          <a:bodyPr lIns="0" tIns="0" rIns="0" bIns="0" rtlCol="0" anchor="t">
            <a:spAutoFit/>
          </a:bodyPr>
          <a:lstStyle/>
          <a:p>
            <a:pPr algn="ctr">
              <a:lnSpc>
                <a:spcPts val="7000"/>
              </a:lnSpc>
              <a:spcBef>
                <a:spcPct val="0"/>
              </a:spcBef>
            </a:pPr>
            <a:r>
              <a:rPr lang="en-US" sz="5000">
                <a:solidFill>
                  <a:srgbClr val="333333"/>
                </a:solidFill>
                <a:latin typeface="Poppins"/>
                <a:ea typeface="Poppins"/>
                <a:cs typeface="Poppins"/>
                <a:sym typeface="Poppins"/>
              </a:rPr>
              <a:t>Urooj Fatima</a:t>
            </a:r>
          </a:p>
        </p:txBody>
      </p:sp>
      <p:sp>
        <p:nvSpPr>
          <p:cNvPr id="23" name="TextBox 23"/>
          <p:cNvSpPr txBox="1"/>
          <p:nvPr/>
        </p:nvSpPr>
        <p:spPr>
          <a:xfrm>
            <a:off x="3387419" y="8324094"/>
            <a:ext cx="10641037" cy="778546"/>
          </a:xfrm>
          <a:prstGeom prst="rect">
            <a:avLst/>
          </a:prstGeom>
        </p:spPr>
        <p:txBody>
          <a:bodyPr wrap="square" lIns="0" tIns="0" rIns="0" bIns="0" rtlCol="0" anchor="t">
            <a:spAutoFit/>
          </a:bodyPr>
          <a:lstStyle/>
          <a:p>
            <a:pPr algn="ctr">
              <a:lnSpc>
                <a:spcPts val="6355"/>
              </a:lnSpc>
              <a:spcBef>
                <a:spcPct val="0"/>
              </a:spcBef>
            </a:pPr>
            <a:r>
              <a:rPr lang="en-US" sz="4539" b="1" dirty="0">
                <a:solidFill>
                  <a:srgbClr val="333333"/>
                </a:solidFill>
                <a:latin typeface="Poppins Bold"/>
                <a:ea typeface="Poppins Bold"/>
                <a:cs typeface="Poppins Bold"/>
                <a:sym typeface="Poppins Bold"/>
              </a:rPr>
              <a:t>Faculty Name: Sir Maaz Rahim</a:t>
            </a:r>
          </a:p>
        </p:txBody>
      </p:sp>
      <p:sp>
        <p:nvSpPr>
          <p:cNvPr id="24" name="TextBox 24"/>
          <p:cNvSpPr txBox="1"/>
          <p:nvPr/>
        </p:nvSpPr>
        <p:spPr>
          <a:xfrm>
            <a:off x="3377337" y="9012740"/>
            <a:ext cx="12387333" cy="818068"/>
          </a:xfrm>
          <a:prstGeom prst="rect">
            <a:avLst/>
          </a:prstGeom>
        </p:spPr>
        <p:txBody>
          <a:bodyPr lIns="0" tIns="0" rIns="0" bIns="0" rtlCol="0" anchor="t">
            <a:spAutoFit/>
          </a:bodyPr>
          <a:lstStyle/>
          <a:p>
            <a:pPr algn="ctr">
              <a:lnSpc>
                <a:spcPts val="6359"/>
              </a:lnSpc>
              <a:spcBef>
                <a:spcPct val="0"/>
              </a:spcBef>
            </a:pPr>
            <a:r>
              <a:rPr lang="en-US" sz="4542" b="1" dirty="0">
                <a:solidFill>
                  <a:srgbClr val="333333"/>
                </a:solidFill>
                <a:latin typeface="Poppins Bold"/>
                <a:ea typeface="Poppins Bold"/>
                <a:cs typeface="Poppins Bold"/>
                <a:sym typeface="Poppins Bold"/>
              </a:rPr>
              <a:t>Coordinator Name: Miss Ashna Nasir</a:t>
            </a:r>
          </a:p>
        </p:txBody>
      </p:sp>
      <p:sp>
        <p:nvSpPr>
          <p:cNvPr id="25" name="TextBox 24">
            <a:extLst>
              <a:ext uri="{FF2B5EF4-FFF2-40B4-BE49-F238E27FC236}">
                <a16:creationId xmlns:a16="http://schemas.microsoft.com/office/drawing/2014/main" id="{2A38B49A-49AF-67FF-8C3B-33C777911B71}"/>
              </a:ext>
            </a:extLst>
          </p:cNvPr>
          <p:cNvSpPr txBox="1"/>
          <p:nvPr/>
        </p:nvSpPr>
        <p:spPr>
          <a:xfrm>
            <a:off x="9225308" y="6311592"/>
            <a:ext cx="5920011" cy="707886"/>
          </a:xfrm>
          <a:prstGeom prst="rect">
            <a:avLst/>
          </a:prstGeom>
          <a:noFill/>
        </p:spPr>
        <p:txBody>
          <a:bodyPr wrap="square" rtlCol="0">
            <a:spAutoFit/>
          </a:bodyPr>
          <a:lstStyle/>
          <a:p>
            <a:r>
              <a:rPr lang="en-US" sz="4000" dirty="0">
                <a:latin typeface="Arial" panose="020B0604020202020204" pitchFamily="34" charset="0"/>
                <a:cs typeface="Arial" panose="020B0604020202020204" pitchFamily="34" charset="0"/>
              </a:rPr>
              <a:t>Student1729666</a:t>
            </a:r>
          </a:p>
        </p:txBody>
      </p:sp>
      <p:sp>
        <p:nvSpPr>
          <p:cNvPr id="26" name="TextBox 25">
            <a:extLst>
              <a:ext uri="{FF2B5EF4-FFF2-40B4-BE49-F238E27FC236}">
                <a16:creationId xmlns:a16="http://schemas.microsoft.com/office/drawing/2014/main" id="{33618705-CE82-9D93-E42B-BC279AAEB244}"/>
              </a:ext>
            </a:extLst>
          </p:cNvPr>
          <p:cNvSpPr txBox="1"/>
          <p:nvPr/>
        </p:nvSpPr>
        <p:spPr>
          <a:xfrm>
            <a:off x="9229964" y="5138401"/>
            <a:ext cx="5920011" cy="707886"/>
          </a:xfrm>
          <a:prstGeom prst="rect">
            <a:avLst/>
          </a:prstGeom>
          <a:noFill/>
        </p:spPr>
        <p:txBody>
          <a:bodyPr wrap="square" rtlCol="0">
            <a:spAutoFit/>
          </a:bodyPr>
          <a:lstStyle/>
          <a:p>
            <a:r>
              <a:rPr lang="en-US" sz="4000" dirty="0">
                <a:latin typeface="Arial" panose="020B0604020202020204" pitchFamily="34" charset="0"/>
                <a:cs typeface="Arial" panose="020B0604020202020204" pitchFamily="34" charset="0"/>
              </a:rPr>
              <a:t>Student1731026</a:t>
            </a:r>
          </a:p>
        </p:txBody>
      </p:sp>
      <p:sp>
        <p:nvSpPr>
          <p:cNvPr id="27" name="TextBox 26">
            <a:extLst>
              <a:ext uri="{FF2B5EF4-FFF2-40B4-BE49-F238E27FC236}">
                <a16:creationId xmlns:a16="http://schemas.microsoft.com/office/drawing/2014/main" id="{9226C0DD-0B79-CD23-FEB6-312E7DB2BD02}"/>
              </a:ext>
            </a:extLst>
          </p:cNvPr>
          <p:cNvSpPr txBox="1"/>
          <p:nvPr/>
        </p:nvSpPr>
        <p:spPr>
          <a:xfrm>
            <a:off x="9229965" y="3946012"/>
            <a:ext cx="5920011" cy="707886"/>
          </a:xfrm>
          <a:prstGeom prst="rect">
            <a:avLst/>
          </a:prstGeom>
          <a:noFill/>
        </p:spPr>
        <p:txBody>
          <a:bodyPr wrap="square" rtlCol="0">
            <a:spAutoFit/>
          </a:bodyPr>
          <a:lstStyle/>
          <a:p>
            <a:r>
              <a:rPr lang="en-US" sz="4000" dirty="0">
                <a:latin typeface="Arial" panose="020B0604020202020204" pitchFamily="34" charset="0"/>
                <a:cs typeface="Arial" panose="020B0604020202020204" pitchFamily="34" charset="0"/>
              </a:rPr>
              <a:t>Student1729672</a:t>
            </a:r>
          </a:p>
        </p:txBody>
      </p:sp>
      <p:sp>
        <p:nvSpPr>
          <p:cNvPr id="28" name="TextBox 27">
            <a:extLst>
              <a:ext uri="{FF2B5EF4-FFF2-40B4-BE49-F238E27FC236}">
                <a16:creationId xmlns:a16="http://schemas.microsoft.com/office/drawing/2014/main" id="{7BDC0442-DC27-6D93-F933-FB3C30CFB3DA}"/>
              </a:ext>
            </a:extLst>
          </p:cNvPr>
          <p:cNvSpPr txBox="1"/>
          <p:nvPr/>
        </p:nvSpPr>
        <p:spPr>
          <a:xfrm>
            <a:off x="9229963" y="7432728"/>
            <a:ext cx="5920011" cy="707886"/>
          </a:xfrm>
          <a:prstGeom prst="rect">
            <a:avLst/>
          </a:prstGeom>
          <a:noFill/>
        </p:spPr>
        <p:txBody>
          <a:bodyPr wrap="square" rtlCol="0">
            <a:spAutoFit/>
          </a:bodyPr>
          <a:lstStyle/>
          <a:p>
            <a:r>
              <a:rPr lang="en-US" sz="4000" dirty="0">
                <a:latin typeface="Arial" panose="020B0604020202020204" pitchFamily="34" charset="0"/>
                <a:cs typeface="Arial" panose="020B0604020202020204" pitchFamily="34" charset="0"/>
              </a:rPr>
              <a:t>Student1730903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D5B24-2D2E-0916-8E1D-F90C6785E9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C756A4-AF5A-EDAD-2A1A-E681F49FEE7C}"/>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3" name="Freeform 3">
            <a:extLst>
              <a:ext uri="{FF2B5EF4-FFF2-40B4-BE49-F238E27FC236}">
                <a16:creationId xmlns:a16="http://schemas.microsoft.com/office/drawing/2014/main" id="{745057B7-E28A-E578-5102-3F47E383FCBD}"/>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2AC179FA-B968-C101-96E2-58C7ECC3CE8E}"/>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131F54D2-928D-EBF2-C7CD-CB3B0EAC0EDA}"/>
              </a:ext>
            </a:extLst>
          </p:cNvPr>
          <p:cNvSpPr/>
          <p:nvPr/>
        </p:nvSpPr>
        <p:spPr>
          <a:xfrm rot="-1708767">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a:extLst>
              <a:ext uri="{FF2B5EF4-FFF2-40B4-BE49-F238E27FC236}">
                <a16:creationId xmlns:a16="http://schemas.microsoft.com/office/drawing/2014/main" id="{B305C6EB-1D34-F557-35B5-AA801C4F88B0}"/>
              </a:ext>
            </a:extLst>
          </p:cNvPr>
          <p:cNvSpPr/>
          <p:nvPr/>
        </p:nvSpPr>
        <p:spPr>
          <a:xfrm rot="-1708767"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a:extLst>
              <a:ext uri="{FF2B5EF4-FFF2-40B4-BE49-F238E27FC236}">
                <a16:creationId xmlns:a16="http://schemas.microsoft.com/office/drawing/2014/main" id="{737684A4-1888-B59D-4877-5746231C7104}"/>
              </a:ext>
            </a:extLst>
          </p:cNvPr>
          <p:cNvSpPr txBox="1"/>
          <p:nvPr/>
        </p:nvSpPr>
        <p:spPr>
          <a:xfrm>
            <a:off x="3426259" y="33201"/>
            <a:ext cx="11435483" cy="3416897"/>
          </a:xfrm>
          <a:prstGeom prst="rect">
            <a:avLst/>
          </a:prstGeom>
        </p:spPr>
        <p:txBody>
          <a:bodyPr lIns="0" tIns="0" rIns="0" bIns="0" rtlCol="0" anchor="t">
            <a:spAutoFit/>
          </a:bodyPr>
          <a:lstStyle/>
          <a:p>
            <a:pPr algn="ctr">
              <a:lnSpc>
                <a:spcPts val="13999"/>
              </a:lnSpc>
            </a:pPr>
            <a:r>
              <a:rPr lang="en-US" sz="9999" b="1" dirty="0">
                <a:solidFill>
                  <a:srgbClr val="333333"/>
                </a:solidFill>
                <a:latin typeface="Maven Pro Bold"/>
                <a:ea typeface="Maven Pro Bold"/>
                <a:cs typeface="Maven Pro Bold"/>
                <a:sym typeface="Maven Pro Bold"/>
              </a:rPr>
              <a:t>CERTIFICATE</a:t>
            </a:r>
          </a:p>
          <a:p>
            <a:pPr algn="ctr">
              <a:lnSpc>
                <a:spcPts val="13999"/>
              </a:lnSpc>
            </a:pPr>
            <a:endParaRPr lang="en-US" sz="9999" b="1" dirty="0">
              <a:solidFill>
                <a:srgbClr val="333333"/>
              </a:solidFill>
              <a:latin typeface="Maven Pro Bold"/>
              <a:ea typeface="Maven Pro Bold"/>
              <a:cs typeface="Maven Pro Bold"/>
              <a:sym typeface="Maven Pro Bold"/>
            </a:endParaRPr>
          </a:p>
        </p:txBody>
      </p:sp>
      <p:sp>
        <p:nvSpPr>
          <p:cNvPr id="8" name="Rectangle 7">
            <a:extLst>
              <a:ext uri="{FF2B5EF4-FFF2-40B4-BE49-F238E27FC236}">
                <a16:creationId xmlns:a16="http://schemas.microsoft.com/office/drawing/2014/main" id="{57DAE3B2-FB41-6A0D-A797-54D7B559F78A}"/>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740644EF-04EF-1E96-BF0D-AA76879A4C85}"/>
              </a:ext>
            </a:extLst>
          </p:cNvPr>
          <p:cNvSpPr txBox="1"/>
          <p:nvPr/>
        </p:nvSpPr>
        <p:spPr>
          <a:xfrm>
            <a:off x="1640454" y="2016102"/>
            <a:ext cx="15370629" cy="5078313"/>
          </a:xfrm>
          <a:prstGeom prst="rect">
            <a:avLst/>
          </a:prstGeom>
          <a:noFill/>
        </p:spPr>
        <p:txBody>
          <a:bodyPr wrap="square" rtlCol="0">
            <a:spAutoFit/>
          </a:bodyPr>
          <a:lstStyle/>
          <a:p>
            <a:r>
              <a:rPr lang="en-US" sz="5400" dirty="0">
                <a:solidFill>
                  <a:schemeClr val="dk1"/>
                </a:solidFill>
                <a:latin typeface="Arial"/>
                <a:ea typeface="Arial"/>
                <a:cs typeface="Arial"/>
                <a:sym typeface="Arial"/>
              </a:rPr>
              <a:t>This is to certify that the dissertation entitled</a:t>
            </a:r>
            <a:br>
              <a:rPr lang="en-US" sz="5400" dirty="0">
                <a:solidFill>
                  <a:schemeClr val="dk1"/>
                </a:solidFill>
                <a:latin typeface="Arial"/>
                <a:ea typeface="Arial"/>
                <a:cs typeface="Arial"/>
                <a:sym typeface="Arial"/>
              </a:rPr>
            </a:br>
            <a:r>
              <a:rPr lang="en-US" sz="5400" b="1" dirty="0">
                <a:solidFill>
                  <a:schemeClr val="dk1"/>
                </a:solidFill>
                <a:latin typeface="Arial"/>
                <a:ea typeface="Arial"/>
                <a:cs typeface="Arial"/>
                <a:sym typeface="Arial"/>
              </a:rPr>
              <a:t>“ALBERTO CLOCKS”</a:t>
            </a:r>
            <a:br>
              <a:rPr lang="en-US" sz="5400" dirty="0">
                <a:solidFill>
                  <a:schemeClr val="dk1"/>
                </a:solidFill>
                <a:latin typeface="Arial"/>
                <a:ea typeface="Arial"/>
                <a:cs typeface="Arial"/>
                <a:sym typeface="Arial"/>
              </a:rPr>
            </a:br>
            <a:r>
              <a:rPr lang="en-US" sz="5400" dirty="0">
                <a:solidFill>
                  <a:schemeClr val="dk1"/>
                </a:solidFill>
                <a:latin typeface="Arial"/>
                <a:ea typeface="Arial"/>
                <a:cs typeface="Arial"/>
                <a:sym typeface="Arial"/>
              </a:rPr>
              <a:t>has been successfully carried out by</a:t>
            </a:r>
            <a:br>
              <a:rPr lang="en-US" sz="5400" dirty="0">
                <a:solidFill>
                  <a:schemeClr val="dk1"/>
                </a:solidFill>
                <a:latin typeface="Arial"/>
                <a:ea typeface="Arial"/>
                <a:cs typeface="Arial"/>
                <a:sym typeface="Arial"/>
              </a:rPr>
            </a:br>
            <a:r>
              <a:rPr lang="en-US" sz="5400" b="1" dirty="0">
                <a:solidFill>
                  <a:schemeClr val="dk1"/>
                </a:solidFill>
                <a:latin typeface="Arial"/>
                <a:ea typeface="Arial"/>
                <a:cs typeface="Arial"/>
                <a:sym typeface="Arial"/>
              </a:rPr>
              <a:t> OUR-GROUP</a:t>
            </a:r>
            <a:br>
              <a:rPr lang="en-US" sz="5400" dirty="0">
                <a:solidFill>
                  <a:schemeClr val="dk1"/>
                </a:solidFill>
                <a:latin typeface="Arial"/>
                <a:ea typeface="Arial"/>
                <a:cs typeface="Arial"/>
                <a:sym typeface="Arial"/>
              </a:rPr>
            </a:br>
            <a:r>
              <a:rPr lang="en-US" sz="5400" dirty="0">
                <a:solidFill>
                  <a:schemeClr val="dk1"/>
                </a:solidFill>
                <a:latin typeface="Arial"/>
                <a:ea typeface="Arial"/>
                <a:cs typeface="Arial"/>
                <a:sym typeface="Arial"/>
              </a:rPr>
              <a:t>in partial fulfilment of the requirements for the award of the </a:t>
            </a:r>
            <a:r>
              <a:rPr lang="en-US" sz="5400" b="1" dirty="0">
                <a:solidFill>
                  <a:schemeClr val="dk1"/>
                </a:solidFill>
                <a:latin typeface="Arial"/>
                <a:ea typeface="Arial"/>
                <a:cs typeface="Arial"/>
                <a:sym typeface="Arial"/>
              </a:rPr>
              <a:t>Aptech Computer Certification</a:t>
            </a:r>
            <a:endParaRPr lang="en-US" sz="5400" dirty="0"/>
          </a:p>
        </p:txBody>
      </p:sp>
    </p:spTree>
    <p:extLst>
      <p:ext uri="{BB962C8B-B14F-4D97-AF65-F5344CB8AC3E}">
        <p14:creationId xmlns:p14="http://schemas.microsoft.com/office/powerpoint/2010/main" val="1840984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p:spPr>
      </p:sp>
      <p:sp>
        <p:nvSpPr>
          <p:cNvPr id="3" name="Freeform 3"/>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708767">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1708767"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426259" y="33201"/>
            <a:ext cx="11435483" cy="3416897"/>
          </a:xfrm>
          <a:prstGeom prst="rect">
            <a:avLst/>
          </a:prstGeom>
        </p:spPr>
        <p:txBody>
          <a:bodyPr lIns="0" tIns="0" rIns="0" bIns="0" rtlCol="0" anchor="t">
            <a:spAutoFit/>
          </a:bodyPr>
          <a:lstStyle/>
          <a:p>
            <a:pPr algn="ctr">
              <a:lnSpc>
                <a:spcPts val="13999"/>
              </a:lnSpc>
            </a:pPr>
            <a:r>
              <a:rPr lang="en-US" sz="9999" b="1" dirty="0">
                <a:solidFill>
                  <a:srgbClr val="333333"/>
                </a:solidFill>
                <a:latin typeface="Maven Pro Bold"/>
                <a:ea typeface="Maven Pro Bold"/>
                <a:cs typeface="Maven Pro Bold"/>
                <a:sym typeface="Maven Pro Bold"/>
              </a:rPr>
              <a:t>INTRODUCTION</a:t>
            </a:r>
          </a:p>
          <a:p>
            <a:pPr algn="ctr">
              <a:lnSpc>
                <a:spcPts val="13999"/>
              </a:lnSpc>
            </a:pPr>
            <a:endParaRPr lang="en-US" sz="9999" b="1" dirty="0">
              <a:solidFill>
                <a:srgbClr val="333333"/>
              </a:solidFill>
              <a:latin typeface="Maven Pro Bold"/>
              <a:ea typeface="Maven Pro Bold"/>
              <a:cs typeface="Maven Pro Bold"/>
              <a:sym typeface="Maven Pro Bold"/>
            </a:endParaRPr>
          </a:p>
        </p:txBody>
      </p:sp>
      <p:sp>
        <p:nvSpPr>
          <p:cNvPr id="8" name="TextBox 7">
            <a:extLst>
              <a:ext uri="{FF2B5EF4-FFF2-40B4-BE49-F238E27FC236}">
                <a16:creationId xmlns:a16="http://schemas.microsoft.com/office/drawing/2014/main" id="{2BC2D311-7004-A2E3-0F7A-8FC5B565233E}"/>
              </a:ext>
            </a:extLst>
          </p:cNvPr>
          <p:cNvSpPr txBox="1"/>
          <p:nvPr/>
        </p:nvSpPr>
        <p:spPr>
          <a:xfrm>
            <a:off x="256977" y="2400300"/>
            <a:ext cx="17802423" cy="6986528"/>
          </a:xfrm>
          <a:prstGeom prst="rect">
            <a:avLst/>
          </a:prstGeom>
          <a:solidFill>
            <a:schemeClr val="bg1">
              <a:lumMod val="85000"/>
            </a:schemeClr>
          </a:solidFill>
        </p:spPr>
        <p:txBody>
          <a:bodyPr wrap="square" rtlCol="0">
            <a:spAutoFit/>
          </a:bodyPr>
          <a:lstStyle/>
          <a:p>
            <a:r>
              <a:rPr lang="en-US" sz="2800" b="1" dirty="0"/>
              <a:t>The thirst for learning, upgrading technical skills and applying the concepts in real life environment at a fast pace is what the industry demands from IT professionals today. However busy work schedules, far-flung locations, unavailability of convenient time-slots pose as major barriers when it comes to applying the concepts into realism.  And hence the need to look out for alternative means of implementation in the form of laddered approach. </a:t>
            </a:r>
          </a:p>
          <a:p>
            <a:r>
              <a:rPr lang="en-US" sz="2800" b="1" dirty="0"/>
              <a:t> </a:t>
            </a:r>
          </a:p>
          <a:p>
            <a:r>
              <a:rPr lang="en-US" sz="2800" b="1" dirty="0"/>
              <a:t>The above truly pose as constraints especially for our students too! With their busy schedules, it is indeed difficult for our students to keep up with the genuine and constant need for integrated application which can be seen live especially so in the field of IT education where technology can change on the spur of a moment. </a:t>
            </a:r>
            <a:r>
              <a:rPr lang="en-US" sz="2800" b="1" i="1" dirty="0"/>
              <a:t>Well, technology does come to our rescue at such times!!</a:t>
            </a:r>
            <a:endParaRPr lang="en-US" sz="2800" b="1" dirty="0"/>
          </a:p>
          <a:p>
            <a:r>
              <a:rPr lang="en-GB" sz="2800" b="1" dirty="0"/>
              <a:t> </a:t>
            </a:r>
            <a:endParaRPr lang="en-US" sz="2800" b="1" dirty="0"/>
          </a:p>
          <a:p>
            <a:r>
              <a:rPr lang="en-GB" sz="2800" b="1" dirty="0"/>
              <a:t>Keeping the above in mind and in tune with our constant endeavour to use Technology in our training model, we at Aptech have thought of revolutionizing the way our students learn and implement the concepts using tools themselves by providing a </a:t>
            </a:r>
            <a:r>
              <a:rPr lang="en-GB" sz="2800" b="1" i="1" dirty="0"/>
              <a:t>live and synchronous </a:t>
            </a:r>
            <a:r>
              <a:rPr lang="en-GB" sz="2800" b="1" i="1" dirty="0" err="1"/>
              <a:t>eProject</a:t>
            </a:r>
            <a:r>
              <a:rPr lang="en-GB" sz="2800" b="1" i="1" dirty="0"/>
              <a:t>   learning environment!</a:t>
            </a:r>
            <a:endParaRPr lang="en-US" sz="2800" b="1" dirty="0"/>
          </a:p>
          <a:p>
            <a:r>
              <a:rPr lang="en-US" sz="2800" b="1" dirty="0"/>
              <a:t> </a:t>
            </a:r>
          </a:p>
          <a:p>
            <a:br>
              <a:rPr lang="en-US" sz="2800" b="1" dirty="0"/>
            </a:br>
            <a:endParaRPr lang="en-US"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44F11E6-A600-7582-D99E-1CA4D7A4CB1E}"/>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p:spPr>
      </p:sp>
      <p:sp>
        <p:nvSpPr>
          <p:cNvPr id="5" name="Freeform 3">
            <a:extLst>
              <a:ext uri="{FF2B5EF4-FFF2-40B4-BE49-F238E27FC236}">
                <a16:creationId xmlns:a16="http://schemas.microsoft.com/office/drawing/2014/main" id="{23343CC2-A98B-134F-874A-E6030869867A}"/>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A06FCE76-C16C-92E2-B83B-41696FD19338}"/>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E81BDEDF-F65A-96FC-95C6-46C744EDC221}"/>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551C58DE-C884-D49D-BE07-5263C1FDC43F}"/>
              </a:ext>
            </a:extLst>
          </p:cNvPr>
          <p:cNvSpPr/>
          <p:nvPr/>
        </p:nvSpPr>
        <p:spPr>
          <a:xfrm rot="19891233"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TextBox 14">
            <a:extLst>
              <a:ext uri="{FF2B5EF4-FFF2-40B4-BE49-F238E27FC236}">
                <a16:creationId xmlns:a16="http://schemas.microsoft.com/office/drawing/2014/main" id="{66E8DA92-ACC5-E31B-5676-B3D44EBF397C}"/>
              </a:ext>
            </a:extLst>
          </p:cNvPr>
          <p:cNvSpPr txBox="1"/>
          <p:nvPr/>
        </p:nvSpPr>
        <p:spPr>
          <a:xfrm>
            <a:off x="242788" y="800100"/>
            <a:ext cx="17802423" cy="8771632"/>
          </a:xfrm>
          <a:prstGeom prst="rect">
            <a:avLst/>
          </a:prstGeom>
          <a:solidFill>
            <a:schemeClr val="bg1">
              <a:lumMod val="85000"/>
            </a:schemeClr>
          </a:solidFill>
        </p:spPr>
        <p:txBody>
          <a:bodyPr wrap="square" rtlCol="0">
            <a:spAutoFit/>
          </a:bodyPr>
          <a:lstStyle/>
          <a:p>
            <a:pPr lvl="0" algn="just"/>
            <a:r>
              <a:rPr lang="en-US" sz="2800" b="1" dirty="0">
                <a:solidFill>
                  <a:schemeClr val="dk1"/>
                </a:solidFill>
                <a:latin typeface="Book Antiqua"/>
                <a:ea typeface="Book Antiqua"/>
                <a:cs typeface="Book Antiqua"/>
                <a:sym typeface="Book Antiqua"/>
              </a:rPr>
              <a:t> So what is this e-Project?</a:t>
            </a:r>
            <a:endParaRPr lang="en-US" sz="2400" dirty="0">
              <a:solidFill>
                <a:schemeClr val="dk1"/>
              </a:solidFill>
              <a:latin typeface="Times New Roman"/>
              <a:ea typeface="Times New Roman"/>
              <a:cs typeface="Times New Roman"/>
              <a:sym typeface="Times New Roman"/>
            </a:endParaRPr>
          </a:p>
          <a:p>
            <a:pPr lvl="0" algn="just"/>
            <a:r>
              <a:rPr lang="en-US" sz="2800" b="1" dirty="0">
                <a:solidFill>
                  <a:schemeClr val="dk1"/>
                </a:solidFill>
                <a:latin typeface="Book Antiqua"/>
                <a:ea typeface="Book Antiqua"/>
                <a:cs typeface="Book Antiqua"/>
                <a:sym typeface="Book Antiqua"/>
              </a:rPr>
              <a:t> </a:t>
            </a:r>
            <a:endParaRPr lang="en-US" sz="2400" dirty="0">
              <a:solidFill>
                <a:schemeClr val="dk1"/>
              </a:solidFill>
              <a:latin typeface="Times New Roman"/>
              <a:ea typeface="Times New Roman"/>
              <a:cs typeface="Times New Roman"/>
              <a:sym typeface="Times New Roman"/>
            </a:endParaRPr>
          </a:p>
          <a:p>
            <a:pPr lvl="0" algn="just"/>
            <a:r>
              <a:rPr lang="en-US" sz="2800" dirty="0">
                <a:solidFill>
                  <a:schemeClr val="dk1"/>
                </a:solidFill>
                <a:latin typeface="Book Antiqua"/>
                <a:ea typeface="Book Antiqua"/>
                <a:cs typeface="Book Antiqua"/>
                <a:sym typeface="Book Antiqua"/>
              </a:rPr>
              <a:t>E-Project is a step by step learning environment that closely simulates the classroom and Lab based learning environment into actual implementation. It is a project implementation at your fingertips!! An electronic, live juncture on the machine that allows you to:</a:t>
            </a:r>
            <a:endParaRPr lang="en-US" sz="2800" dirty="0"/>
          </a:p>
          <a:p>
            <a:pPr algn="just">
              <a:buClr>
                <a:schemeClr val="dk1"/>
              </a:buClr>
              <a:buSzPts val="1800"/>
            </a:pPr>
            <a:endParaRPr lang="en-US" sz="3200" dirty="0">
              <a:solidFill>
                <a:schemeClr val="dk1"/>
              </a:solidFill>
              <a:latin typeface="Arial Narrow" panose="020B0606020202030204" pitchFamily="34" charset="0"/>
              <a:ea typeface="Arial"/>
              <a:cs typeface="Arial"/>
              <a:sym typeface="Arial"/>
            </a:endParaRPr>
          </a:p>
          <a:p>
            <a:pPr marL="342900" indent="-342900" algn="just">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Build a larger more robust application.</a:t>
            </a:r>
            <a:endParaRPr lang="en-US" sz="2400" dirty="0">
              <a:solidFill>
                <a:schemeClr val="dk1"/>
              </a:solidFill>
              <a:latin typeface="Times New Roman"/>
              <a:ea typeface="Times New Roman"/>
              <a:cs typeface="Times New Roman"/>
              <a:sym typeface="Times New Roman"/>
            </a:endParaRPr>
          </a:p>
          <a:p>
            <a:pPr marL="342900" indent="-342900" algn="just">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Usage of certain utilities in applications designed by user.</a:t>
            </a:r>
            <a:endParaRPr lang="en-US" sz="2400" dirty="0">
              <a:solidFill>
                <a:schemeClr val="dk1"/>
              </a:solidFill>
              <a:latin typeface="Times New Roman"/>
              <a:ea typeface="Times New Roman"/>
              <a:cs typeface="Times New Roman"/>
              <a:sym typeface="Times New Roman"/>
            </a:endParaRPr>
          </a:p>
          <a:p>
            <a:pPr marL="342900" indent="-342900" algn="just">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Single program to unified code leading to a complete application.</a:t>
            </a:r>
            <a:endParaRPr lang="en-US" sz="2400" dirty="0">
              <a:solidFill>
                <a:schemeClr val="dk1"/>
              </a:solidFill>
              <a:latin typeface="Times New Roman"/>
              <a:ea typeface="Times New Roman"/>
              <a:cs typeface="Times New Roman"/>
              <a:sym typeface="Times New Roman"/>
            </a:endParaRPr>
          </a:p>
          <a:p>
            <a:pPr marL="342900" indent="-342900">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Learn implementation of concepts in a phased manner.</a:t>
            </a:r>
            <a:endParaRPr lang="en-US" sz="2800" dirty="0">
              <a:solidFill>
                <a:schemeClr val="dk1"/>
              </a:solidFill>
              <a:latin typeface="Times New Roman"/>
              <a:ea typeface="Times New Roman"/>
              <a:cs typeface="Times New Roman"/>
              <a:sym typeface="Times New Roman"/>
            </a:endParaRPr>
          </a:p>
          <a:p>
            <a:pPr marL="342900" indent="-342900">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Enhance skills and add value.</a:t>
            </a:r>
            <a:endParaRPr lang="en-US" sz="2800" dirty="0">
              <a:solidFill>
                <a:schemeClr val="dk1"/>
              </a:solidFill>
              <a:latin typeface="Times New Roman"/>
              <a:ea typeface="Times New Roman"/>
              <a:cs typeface="Times New Roman"/>
              <a:sym typeface="Times New Roman"/>
            </a:endParaRPr>
          </a:p>
          <a:p>
            <a:pPr marL="342900" indent="-342900" algn="just">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Work on real life projects. </a:t>
            </a:r>
            <a:endParaRPr lang="en-US" sz="2400" dirty="0">
              <a:solidFill>
                <a:schemeClr val="dk1"/>
              </a:solidFill>
              <a:latin typeface="Times New Roman"/>
              <a:ea typeface="Times New Roman"/>
              <a:cs typeface="Times New Roman"/>
              <a:sym typeface="Times New Roman"/>
            </a:endParaRPr>
          </a:p>
          <a:p>
            <a:pPr marL="342900" indent="-342900" algn="just">
              <a:buClr>
                <a:schemeClr val="dk1"/>
              </a:buClr>
              <a:buSzPts val="1800"/>
              <a:buFont typeface="Noto Sans Symbols"/>
              <a:buChar char="❑"/>
            </a:pPr>
            <a:r>
              <a:rPr lang="en-US" sz="2800" dirty="0">
                <a:solidFill>
                  <a:schemeClr val="dk1"/>
                </a:solidFill>
                <a:latin typeface="Book Antiqua"/>
                <a:ea typeface="Book Antiqua"/>
                <a:cs typeface="Book Antiqua"/>
                <a:sym typeface="Book Antiqua"/>
              </a:rPr>
              <a:t>Give A real life scenario and help to create applications more complicated and useful.</a:t>
            </a:r>
            <a:endParaRPr lang="en-US" sz="2400" dirty="0">
              <a:solidFill>
                <a:schemeClr val="dk1"/>
              </a:solidFill>
              <a:latin typeface="Times New Roman"/>
              <a:ea typeface="Times New Roman"/>
              <a:cs typeface="Times New Roman"/>
              <a:sym typeface="Times New Roman"/>
            </a:endParaRPr>
          </a:p>
          <a:p>
            <a:pPr>
              <a:buClr>
                <a:schemeClr val="dk1"/>
              </a:buClr>
              <a:buSzPts val="1800"/>
            </a:pPr>
            <a:r>
              <a:rPr lang="en-US" sz="2800" dirty="0">
                <a:solidFill>
                  <a:schemeClr val="dk1"/>
                </a:solidFill>
                <a:latin typeface="Book Antiqua"/>
                <a:ea typeface="Book Antiqua"/>
                <a:cs typeface="Book Antiqua"/>
                <a:sym typeface="Book Antiqua"/>
              </a:rPr>
              <a:t>Mentoring through email support.</a:t>
            </a:r>
            <a:endParaRPr lang="en-US" sz="2800" dirty="0">
              <a:solidFill>
                <a:schemeClr val="dk1"/>
              </a:solidFill>
              <a:latin typeface="Times New Roman"/>
              <a:ea typeface="Times New Roman"/>
              <a:cs typeface="Times New Roman"/>
              <a:sym typeface="Times New Roman"/>
            </a:endParaRPr>
          </a:p>
          <a:p>
            <a:pPr lvl="0"/>
            <a:r>
              <a:rPr lang="en-US" sz="2800" b="1" dirty="0">
                <a:solidFill>
                  <a:schemeClr val="dk1"/>
                </a:solidFill>
                <a:latin typeface="Book Antiqua"/>
                <a:ea typeface="Book Antiqua"/>
                <a:cs typeface="Book Antiqua"/>
                <a:sym typeface="Book Antiqua"/>
              </a:rPr>
              <a:t> </a:t>
            </a:r>
            <a:endParaRPr lang="en-US" sz="2800" dirty="0">
              <a:solidFill>
                <a:schemeClr val="dk1"/>
              </a:solidFill>
              <a:latin typeface="Times New Roman"/>
              <a:ea typeface="Times New Roman"/>
              <a:cs typeface="Times New Roman"/>
              <a:sym typeface="Times New Roman"/>
            </a:endParaRPr>
          </a:p>
          <a:p>
            <a:pPr lvl="0" algn="just"/>
            <a:r>
              <a:rPr lang="en-US" sz="2800" dirty="0">
                <a:solidFill>
                  <a:schemeClr val="dk1"/>
                </a:solidFill>
                <a:latin typeface="Book Antiqua"/>
                <a:ea typeface="Book Antiqua"/>
                <a:cs typeface="Book Antiqua"/>
                <a:sym typeface="Book Antiqua"/>
              </a:rPr>
              <a:t>The students at the center are expected to complete this e-Project and send complete documentation with source code to e-Projects Team </a:t>
            </a:r>
            <a:endParaRPr lang="en-US" sz="2400" dirty="0">
              <a:solidFill>
                <a:schemeClr val="dk1"/>
              </a:solidFill>
              <a:latin typeface="Times New Roman"/>
              <a:ea typeface="Times New Roman"/>
              <a:cs typeface="Times New Roman"/>
              <a:sym typeface="Times New Roman"/>
            </a:endParaRPr>
          </a:p>
          <a:p>
            <a:pPr lvl="0" algn="just"/>
            <a:r>
              <a:rPr lang="en-US" sz="2800" dirty="0">
                <a:solidFill>
                  <a:schemeClr val="dk1"/>
                </a:solidFill>
                <a:latin typeface="Book Antiqua"/>
                <a:ea typeface="Book Antiqua"/>
                <a:cs typeface="Book Antiqua"/>
                <a:sym typeface="Book Antiqua"/>
              </a:rPr>
              <a:t> </a:t>
            </a:r>
            <a:endParaRPr lang="en-US" sz="2400" dirty="0">
              <a:solidFill>
                <a:schemeClr val="dk1"/>
              </a:solidFill>
              <a:latin typeface="Times New Roman"/>
              <a:ea typeface="Times New Roman"/>
              <a:cs typeface="Times New Roman"/>
              <a:sym typeface="Times New Roman"/>
            </a:endParaRPr>
          </a:p>
          <a:p>
            <a:pPr lvl="0" algn="just"/>
            <a:r>
              <a:rPr lang="en-US" sz="2800" dirty="0">
                <a:solidFill>
                  <a:schemeClr val="dk1"/>
                </a:solidFill>
                <a:latin typeface="Book Antiqua"/>
                <a:ea typeface="Book Antiqua"/>
                <a:cs typeface="Book Antiqua"/>
                <a:sym typeface="Book Antiqua"/>
              </a:rPr>
              <a:t>Looking forward to a positive response from your end!!</a:t>
            </a:r>
            <a:endParaRPr lang="en-US" sz="2400" dirty="0">
              <a:solidFill>
                <a:schemeClr val="dk1"/>
              </a:solidFill>
              <a:latin typeface="Times New Roman"/>
              <a:ea typeface="Times New Roman"/>
              <a:cs typeface="Times New Roman"/>
              <a:sym typeface="Times New Roman"/>
            </a:endParaRPr>
          </a:p>
          <a:p>
            <a:endParaRPr lang="en-US" sz="2800" b="1" dirty="0"/>
          </a:p>
        </p:txBody>
      </p:sp>
    </p:spTree>
    <p:extLst>
      <p:ext uri="{BB962C8B-B14F-4D97-AF65-F5344CB8AC3E}">
        <p14:creationId xmlns:p14="http://schemas.microsoft.com/office/powerpoint/2010/main" val="1751640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8D45ACC-61D0-4D36-7034-D5AE52F8EBD0}"/>
              </a:ext>
            </a:extLst>
          </p:cNvPr>
          <p:cNvSpPr/>
          <p:nvPr/>
        </p:nvSpPr>
        <p:spPr>
          <a:xfrm flipH="1">
            <a:off x="-28575"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5" name="Freeform 3">
            <a:extLst>
              <a:ext uri="{FF2B5EF4-FFF2-40B4-BE49-F238E27FC236}">
                <a16:creationId xmlns:a16="http://schemas.microsoft.com/office/drawing/2014/main" id="{58C6CFC8-6BCA-7A50-B16C-8A270A32D2B7}"/>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7578458A-901A-D8BE-DBD8-7188151B9C62}"/>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33482D0B-5BCB-A590-FF73-9E17D79CEB59}"/>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12AEDEC8-BFB9-9157-CBC1-4D6D137F3910}"/>
              </a:ext>
            </a:extLst>
          </p:cNvPr>
          <p:cNvSpPr/>
          <p:nvPr/>
        </p:nvSpPr>
        <p:spPr>
          <a:xfrm rot="19891233" flipH="1" flipV="1">
            <a:off x="-1410598"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TextBox 7">
            <a:extLst>
              <a:ext uri="{FF2B5EF4-FFF2-40B4-BE49-F238E27FC236}">
                <a16:creationId xmlns:a16="http://schemas.microsoft.com/office/drawing/2014/main" id="{42A459F5-90E0-8556-15FD-13EBA199B6C9}"/>
              </a:ext>
            </a:extLst>
          </p:cNvPr>
          <p:cNvSpPr txBox="1"/>
          <p:nvPr/>
        </p:nvSpPr>
        <p:spPr>
          <a:xfrm>
            <a:off x="1618683" y="-385767"/>
            <a:ext cx="13878513" cy="3290388"/>
          </a:xfrm>
          <a:prstGeom prst="rect">
            <a:avLst/>
          </a:prstGeom>
        </p:spPr>
        <p:txBody>
          <a:bodyPr wrap="square" lIns="0" tIns="0" rIns="0" bIns="0" rtlCol="0" anchor="t">
            <a:spAutoFit/>
          </a:bodyPr>
          <a:lstStyle/>
          <a:p>
            <a:pPr algn="ctr">
              <a:lnSpc>
                <a:spcPts val="13999"/>
              </a:lnSpc>
            </a:pPr>
            <a:r>
              <a:rPr lang="en-US" sz="5400" b="1" dirty="0">
                <a:solidFill>
                  <a:srgbClr val="333333"/>
                </a:solidFill>
                <a:latin typeface="Maven Pro Bold"/>
                <a:ea typeface="Maven Pro Bold"/>
                <a:cs typeface="Maven Pro Bold"/>
                <a:sym typeface="Maven Pro Bold"/>
              </a:rPr>
              <a:t>OBJECTIVES OF THE PROJECT</a:t>
            </a:r>
          </a:p>
          <a:p>
            <a:pPr algn="ctr">
              <a:lnSpc>
                <a:spcPts val="13999"/>
              </a:lnSpc>
            </a:pPr>
            <a:endParaRPr lang="en-US" sz="5400" b="1" dirty="0">
              <a:solidFill>
                <a:srgbClr val="333333"/>
              </a:solidFill>
              <a:latin typeface="Maven Pro Bold"/>
              <a:ea typeface="Maven Pro Bold"/>
              <a:cs typeface="Maven Pro Bold"/>
              <a:sym typeface="Maven Pro Bold"/>
            </a:endParaRPr>
          </a:p>
        </p:txBody>
      </p:sp>
      <p:sp>
        <p:nvSpPr>
          <p:cNvPr id="15" name="Rectangle 14">
            <a:extLst>
              <a:ext uri="{FF2B5EF4-FFF2-40B4-BE49-F238E27FC236}">
                <a16:creationId xmlns:a16="http://schemas.microsoft.com/office/drawing/2014/main" id="{06D4111F-4FAC-D39D-19BD-E4B9BE2E163A}"/>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A5F213A6-F0C8-96F6-39CE-8BFB099C904A}"/>
              </a:ext>
            </a:extLst>
          </p:cNvPr>
          <p:cNvSpPr txBox="1"/>
          <p:nvPr/>
        </p:nvSpPr>
        <p:spPr>
          <a:xfrm>
            <a:off x="888546" y="1407845"/>
            <a:ext cx="15370629" cy="8248412"/>
          </a:xfrm>
          <a:prstGeom prst="rect">
            <a:avLst/>
          </a:prstGeom>
          <a:solidFill>
            <a:schemeClr val="bg1">
              <a:lumMod val="85000"/>
            </a:schemeClr>
          </a:solidFill>
        </p:spPr>
        <p:txBody>
          <a:bodyPr wrap="square" rtlCol="0">
            <a:spAutoFit/>
          </a:bodyPr>
          <a:lstStyle/>
          <a:p>
            <a:r>
              <a:rPr lang="en-US" sz="3200" dirty="0"/>
              <a:t>The Objective of this program is to give a sample project to work on real life projects. These applications help you build a larger more robust application. </a:t>
            </a:r>
          </a:p>
          <a:p>
            <a:r>
              <a:rPr lang="en-US" sz="3200" dirty="0"/>
              <a:t> </a:t>
            </a:r>
          </a:p>
          <a:p>
            <a:r>
              <a:rPr lang="en-US" sz="3200" dirty="0"/>
              <a:t>The objective is not to teach you JSON/JavaScript/Dreamweaver/HTML5 but to provide you with a real-life scenario and help you create basic applications using the tools.</a:t>
            </a:r>
          </a:p>
          <a:p>
            <a:r>
              <a:rPr lang="en-US" sz="3200" dirty="0"/>
              <a:t> </a:t>
            </a:r>
          </a:p>
          <a:p>
            <a:r>
              <a:rPr lang="en-US" sz="3200" dirty="0"/>
              <a:t>You can revise the chapters before you start with the project. </a:t>
            </a:r>
          </a:p>
          <a:p>
            <a:r>
              <a:rPr lang="en-US" sz="3200" dirty="0"/>
              <a:t> </a:t>
            </a:r>
          </a:p>
          <a:p>
            <a:r>
              <a:rPr lang="en-US" sz="3200" dirty="0"/>
              <a:t>This project is meant for students who have completed the module of </a:t>
            </a:r>
            <a:r>
              <a:rPr lang="en-US" sz="3200" b="1" i="1" dirty="0"/>
              <a:t>HTML5</a:t>
            </a:r>
            <a:r>
              <a:rPr lang="en-US" sz="3200" dirty="0"/>
              <a:t>. These programs should be done in the Lab sessions with assistance of the faculty if required.</a:t>
            </a:r>
          </a:p>
          <a:p>
            <a:r>
              <a:rPr lang="en-US" sz="3200" dirty="0"/>
              <a:t> </a:t>
            </a:r>
          </a:p>
          <a:p>
            <a:r>
              <a:rPr lang="en-US" sz="3200" dirty="0"/>
              <a:t>It is very essential that a student has a clear understanding of the subject. Students should go through the project and solve the assignments as per requirements given. </a:t>
            </a:r>
          </a:p>
          <a:p>
            <a:r>
              <a:rPr lang="en-US" sz="3200" dirty="0"/>
              <a:t> </a:t>
            </a:r>
          </a:p>
          <a:p>
            <a:r>
              <a:rPr lang="en-US" sz="3200" dirty="0"/>
              <a:t>Kindly get back to </a:t>
            </a:r>
            <a:r>
              <a:rPr lang="en-US" sz="3200" dirty="0" err="1"/>
              <a:t>eProjects</a:t>
            </a:r>
            <a:r>
              <a:rPr lang="en-US" sz="3200" dirty="0"/>
              <a:t> Team in case of any doubts regarding the application or its objectives.</a:t>
            </a:r>
          </a:p>
          <a:p>
            <a:r>
              <a:rPr lang="en-US" dirty="0"/>
              <a:t> </a:t>
            </a:r>
          </a:p>
        </p:txBody>
      </p:sp>
    </p:spTree>
    <p:extLst>
      <p:ext uri="{BB962C8B-B14F-4D97-AF65-F5344CB8AC3E}">
        <p14:creationId xmlns:p14="http://schemas.microsoft.com/office/powerpoint/2010/main" val="2619905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C2DE75BF-2CAC-AA05-E0A0-41B495C9768B}"/>
              </a:ext>
            </a:extLst>
          </p:cNvPr>
          <p:cNvSpPr/>
          <p:nvPr/>
        </p:nvSpPr>
        <p:spPr>
          <a:xfrm flipH="1">
            <a:off x="28575" y="-2775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5" name="Freeform 3">
            <a:extLst>
              <a:ext uri="{FF2B5EF4-FFF2-40B4-BE49-F238E27FC236}">
                <a16:creationId xmlns:a16="http://schemas.microsoft.com/office/drawing/2014/main" id="{A78D3A40-2D3A-A91F-70DA-3453E89924FD}"/>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3CD2DF54-DFDD-238A-4B8D-5B72A490D48B}"/>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DC425C5B-EE84-8BD7-1FDA-3CD9B7CCAD8C}"/>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BB9C2287-B65A-057B-5F38-403AA469773B}"/>
              </a:ext>
            </a:extLst>
          </p:cNvPr>
          <p:cNvSpPr/>
          <p:nvPr/>
        </p:nvSpPr>
        <p:spPr>
          <a:xfrm rot="19891233"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Rectangle 14">
            <a:extLst>
              <a:ext uri="{FF2B5EF4-FFF2-40B4-BE49-F238E27FC236}">
                <a16:creationId xmlns:a16="http://schemas.microsoft.com/office/drawing/2014/main" id="{C7946EEA-292C-1BD1-9434-943415FCEBE3}"/>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4CD803F7-9112-AEFC-11EB-B7507BC0D5DE}"/>
              </a:ext>
            </a:extLst>
          </p:cNvPr>
          <p:cNvSpPr txBox="1"/>
          <p:nvPr/>
        </p:nvSpPr>
        <p:spPr>
          <a:xfrm>
            <a:off x="1028700" y="1485900"/>
            <a:ext cx="16230600" cy="6924973"/>
          </a:xfrm>
          <a:prstGeom prst="rect">
            <a:avLst/>
          </a:prstGeom>
          <a:solidFill>
            <a:schemeClr val="bg1">
              <a:lumMod val="85000"/>
            </a:schemeClr>
          </a:solidFill>
        </p:spPr>
        <p:txBody>
          <a:bodyPr wrap="square" rtlCol="0">
            <a:spAutoFit/>
          </a:bodyPr>
          <a:lstStyle/>
          <a:p>
            <a:r>
              <a:rPr lang="en-US" sz="6000" b="1" dirty="0"/>
              <a:t>Functional Requirement Specification</a:t>
            </a:r>
            <a:r>
              <a:rPr lang="en-US" sz="4800" b="1" dirty="0"/>
              <a:t>:</a:t>
            </a:r>
            <a:endParaRPr lang="en-US" sz="4800" dirty="0"/>
          </a:p>
          <a:p>
            <a:r>
              <a:rPr lang="en-US" sz="4800" dirty="0"/>
              <a:t> </a:t>
            </a:r>
          </a:p>
          <a:p>
            <a:r>
              <a:rPr lang="en-US" sz="4800" dirty="0"/>
              <a:t>The portal will be designed as a Single-Page-Application and responsive Website with a set of pages and menus that represent choice of activities to be performed. The pages, menus, and other visual elements must be designed in a visually appealing manner with attractive fonts, colors, and animations.</a:t>
            </a:r>
          </a:p>
          <a:p>
            <a:r>
              <a:rPr lang="en-US" sz="4800" dirty="0"/>
              <a:t> </a:t>
            </a:r>
          </a:p>
          <a:p>
            <a:r>
              <a:rPr lang="en-US" sz="4800" dirty="0"/>
              <a:t>All of these should also be laid out in a responsive manner</a:t>
            </a:r>
          </a:p>
        </p:txBody>
      </p:sp>
    </p:spTree>
    <p:extLst>
      <p:ext uri="{BB962C8B-B14F-4D97-AF65-F5344CB8AC3E}">
        <p14:creationId xmlns:p14="http://schemas.microsoft.com/office/powerpoint/2010/main" val="2561496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3CC8070-05CD-B017-6E37-96DD8B53F045}"/>
              </a:ext>
            </a:extLst>
          </p:cNvPr>
          <p:cNvSpPr/>
          <p:nvPr/>
        </p:nvSpPr>
        <p:spPr>
          <a:xfrm flipH="1">
            <a:off x="28575" y="-2775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5" name="Freeform 3">
            <a:extLst>
              <a:ext uri="{FF2B5EF4-FFF2-40B4-BE49-F238E27FC236}">
                <a16:creationId xmlns:a16="http://schemas.microsoft.com/office/drawing/2014/main" id="{E5670B8A-D37E-25CA-3F4A-892DD906FD71}"/>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162087CC-58F4-BF32-52B5-895144ACBE8B}"/>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17E46BC9-FD3E-2C9B-1B7B-7477246752A6}"/>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B0CC1E33-8B2A-79FC-CB90-5CC4172A431E}"/>
              </a:ext>
            </a:extLst>
          </p:cNvPr>
          <p:cNvSpPr/>
          <p:nvPr/>
        </p:nvSpPr>
        <p:spPr>
          <a:xfrm rot="19891233"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Rectangle 12">
            <a:extLst>
              <a:ext uri="{FF2B5EF4-FFF2-40B4-BE49-F238E27FC236}">
                <a16:creationId xmlns:a16="http://schemas.microsoft.com/office/drawing/2014/main" id="{6EFD19F0-A971-20A9-A597-0D1344693DED}"/>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17B627F2-A888-DBB6-60C9-9AAFB909339B}"/>
              </a:ext>
            </a:extLst>
          </p:cNvPr>
          <p:cNvSpPr txBox="1"/>
          <p:nvPr/>
        </p:nvSpPr>
        <p:spPr>
          <a:xfrm>
            <a:off x="1028700" y="145150"/>
            <a:ext cx="16230600" cy="9941183"/>
          </a:xfrm>
          <a:prstGeom prst="rect">
            <a:avLst/>
          </a:prstGeom>
          <a:solidFill>
            <a:schemeClr val="bg1">
              <a:lumMod val="85000"/>
            </a:schemeClr>
          </a:solidFill>
        </p:spPr>
        <p:txBody>
          <a:bodyPr wrap="square" rtlCol="0">
            <a:spAutoFit/>
          </a:bodyPr>
          <a:lstStyle/>
          <a:p>
            <a:r>
              <a:rPr lang="en-US" sz="3200" dirty="0"/>
              <a:t> </a:t>
            </a:r>
          </a:p>
          <a:p>
            <a:r>
              <a:rPr lang="en-US" sz="3200" dirty="0"/>
              <a:t>The Web site is to be created based on the following requirements.</a:t>
            </a:r>
          </a:p>
          <a:p>
            <a:r>
              <a:rPr lang="en-US" sz="3200" dirty="0"/>
              <a:t> </a:t>
            </a:r>
          </a:p>
          <a:p>
            <a:pPr lvl="0"/>
            <a:r>
              <a:rPr lang="en-US" sz="3200" dirty="0"/>
              <a:t>1. The Top of the Page should be presented with a suitable logo, and page should have decent </a:t>
            </a:r>
            <a:r>
              <a:rPr lang="en-US" sz="3200" dirty="0" err="1"/>
              <a:t>colour</a:t>
            </a:r>
            <a:r>
              <a:rPr lang="en-US" sz="3200" dirty="0"/>
              <a:t> combination.</a:t>
            </a:r>
          </a:p>
          <a:p>
            <a:pPr lvl="0"/>
            <a:r>
              <a:rPr lang="en-US" sz="3200" dirty="0"/>
              <a:t>2. The site should display a menu which will contain the options as Products, Technology, Store Locator, Support etc.</a:t>
            </a:r>
          </a:p>
          <a:p>
            <a:pPr lvl="0"/>
            <a:r>
              <a:rPr lang="en-US" sz="3200" dirty="0"/>
              <a:t>3. Various sections having information about different types of watches and clocks, Technology used in the watches etc. these sections should display products accordingly.</a:t>
            </a:r>
          </a:p>
          <a:p>
            <a:pPr lvl="0"/>
            <a:r>
              <a:rPr lang="en-US" sz="3200" dirty="0"/>
              <a:t>4. The information should be categorized in sections according to different Product Line-up e.g. “Vintage”, “Luxury”, “Smart Watches” etc.</a:t>
            </a:r>
          </a:p>
          <a:p>
            <a:pPr lvl="0"/>
            <a:r>
              <a:rPr lang="en-US" sz="3200" dirty="0"/>
              <a:t>5. When a user selects any product line-up, complete list of watches for that product line-up will be </a:t>
            </a:r>
            <a:r>
              <a:rPr lang="en-US" sz="3200" dirty="0" err="1"/>
              <a:t>displayeds</a:t>
            </a:r>
            <a:r>
              <a:rPr lang="en-US" sz="3200" dirty="0"/>
              <a:t>.</a:t>
            </a:r>
          </a:p>
          <a:p>
            <a:pPr lvl="0"/>
            <a:r>
              <a:rPr lang="en-US" sz="3200" dirty="0"/>
              <a:t>6. Details of the watches should be displayed on the popup window.</a:t>
            </a:r>
          </a:p>
          <a:p>
            <a:pPr lvl="0"/>
            <a:r>
              <a:rPr lang="en-US" sz="3200" dirty="0"/>
              <a:t>7. Price List for all watches should be available.</a:t>
            </a:r>
          </a:p>
          <a:p>
            <a:pPr lvl="0"/>
            <a:r>
              <a:rPr lang="en-US" sz="3200" dirty="0"/>
              <a:t>8. Gallery can be added for viewing different images.</a:t>
            </a:r>
          </a:p>
          <a:p>
            <a:pPr lvl="0"/>
            <a:r>
              <a:rPr lang="en-US" sz="3200" dirty="0"/>
              <a:t>9. Site map, Gallery, about us, Contact us link must be added.</a:t>
            </a:r>
          </a:p>
          <a:p>
            <a:pPr lvl="0"/>
            <a:r>
              <a:rPr lang="en-US" sz="3200" dirty="0"/>
              <a:t>10. About Us and Contact Us: This menu option should display Email id, address, and contact number of the organization.</a:t>
            </a:r>
          </a:p>
          <a:p>
            <a:endParaRPr lang="en-US" sz="3200" dirty="0"/>
          </a:p>
        </p:txBody>
      </p:sp>
    </p:spTree>
    <p:extLst>
      <p:ext uri="{BB962C8B-B14F-4D97-AF65-F5344CB8AC3E}">
        <p14:creationId xmlns:p14="http://schemas.microsoft.com/office/powerpoint/2010/main" val="1593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F22DAC2-F742-6C47-C2A1-2672C6466EF0}"/>
              </a:ext>
            </a:extLst>
          </p:cNvPr>
          <p:cNvSpPr/>
          <p:nvPr/>
        </p:nvSpPr>
        <p:spPr>
          <a:xfrm flipH="1">
            <a:off x="28575" y="-2775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5" name="Freeform 3">
            <a:extLst>
              <a:ext uri="{FF2B5EF4-FFF2-40B4-BE49-F238E27FC236}">
                <a16:creationId xmlns:a16="http://schemas.microsoft.com/office/drawing/2014/main" id="{64F8A9EB-BB1D-B938-F0D8-9F718DCED06A}"/>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BCD9BC40-4CC5-EECD-3479-919A74EFB48D}"/>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4DABB41B-9042-2AD9-6BAB-C51F3828080B}"/>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0F22E759-7F02-5CB0-1985-F480316139AF}"/>
              </a:ext>
            </a:extLst>
          </p:cNvPr>
          <p:cNvSpPr/>
          <p:nvPr/>
        </p:nvSpPr>
        <p:spPr>
          <a:xfrm rot="19891233"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Rectangle 12">
            <a:extLst>
              <a:ext uri="{FF2B5EF4-FFF2-40B4-BE49-F238E27FC236}">
                <a16:creationId xmlns:a16="http://schemas.microsoft.com/office/drawing/2014/main" id="{D750A2DF-5616-2D5F-F71F-9A4C25D46216}"/>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560E631-E200-C9BB-2E8F-8532929DA5BB}"/>
              </a:ext>
            </a:extLst>
          </p:cNvPr>
          <p:cNvSpPr txBox="1"/>
          <p:nvPr/>
        </p:nvSpPr>
        <p:spPr>
          <a:xfrm>
            <a:off x="1028700" y="145150"/>
            <a:ext cx="16230600" cy="8894743"/>
          </a:xfrm>
          <a:prstGeom prst="rect">
            <a:avLst/>
          </a:prstGeom>
          <a:solidFill>
            <a:schemeClr val="bg1">
              <a:lumMod val="85000"/>
            </a:schemeClr>
          </a:solidFill>
        </p:spPr>
        <p:txBody>
          <a:bodyPr wrap="square" rtlCol="0">
            <a:spAutoFit/>
          </a:bodyPr>
          <a:lstStyle/>
          <a:p>
            <a:r>
              <a:rPr lang="en-US" sz="4400" dirty="0"/>
              <a:t> </a:t>
            </a:r>
          </a:p>
          <a:p>
            <a:r>
              <a:rPr lang="en-US" sz="4400" dirty="0"/>
              <a:t>Over and above this, the portal should implement the following functionalities:</a:t>
            </a:r>
          </a:p>
          <a:p>
            <a:r>
              <a:rPr lang="en-US" sz="4400" dirty="0"/>
              <a:t> </a:t>
            </a:r>
          </a:p>
          <a:p>
            <a:pPr lvl="0"/>
            <a:r>
              <a:rPr lang="en-US" sz="4400" dirty="0"/>
              <a:t>.Display a continuous scrolling ticker at the bottom of the page with current date, time, and location (hint: Use geolocation features of HTML5).</a:t>
            </a:r>
          </a:p>
          <a:p>
            <a:pPr lvl="0"/>
            <a:r>
              <a:rPr lang="en-US" sz="4400" dirty="0"/>
              <a:t>.Display a visitor count at the top right corner of the page beside a logo image. </a:t>
            </a:r>
          </a:p>
          <a:p>
            <a:pPr lvl="0"/>
            <a:r>
              <a:rPr lang="en-US" sz="4400" dirty="0"/>
              <a:t>.The menu options should change color on hover and also after clicking. </a:t>
            </a:r>
          </a:p>
          <a:p>
            <a:pPr lvl="0"/>
            <a:r>
              <a:rPr lang="en-US" sz="4400" dirty="0"/>
              <a:t>.Fade in and fade out options can be used for the menus.</a:t>
            </a:r>
          </a:p>
          <a:p>
            <a:endParaRPr lang="en-US" sz="4400" dirty="0"/>
          </a:p>
        </p:txBody>
      </p:sp>
    </p:spTree>
    <p:extLst>
      <p:ext uri="{BB962C8B-B14F-4D97-AF65-F5344CB8AC3E}">
        <p14:creationId xmlns:p14="http://schemas.microsoft.com/office/powerpoint/2010/main" val="4227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B0899A3-561C-04BD-7C9D-D28EC754CDDD}"/>
              </a:ext>
            </a:extLst>
          </p:cNvPr>
          <p:cNvSpPr/>
          <p:nvPr/>
        </p:nvSpPr>
        <p:spPr>
          <a:xfrm flipH="1">
            <a:off x="28575" y="-2775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5" name="Freeform 3">
            <a:extLst>
              <a:ext uri="{FF2B5EF4-FFF2-40B4-BE49-F238E27FC236}">
                <a16:creationId xmlns:a16="http://schemas.microsoft.com/office/drawing/2014/main" id="{3627500E-FA58-E0C1-5BEC-A656B0B9B655}"/>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32EC3524-C3FA-19EE-DDD9-64547AEC6547}"/>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273194AE-D5B4-915B-4E65-360437FA791B}"/>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12FC226C-C237-A50F-69E5-678D39F75EBE}"/>
              </a:ext>
            </a:extLst>
          </p:cNvPr>
          <p:cNvSpPr/>
          <p:nvPr/>
        </p:nvSpPr>
        <p:spPr>
          <a:xfrm rot="19891233"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Rectangle 12">
            <a:extLst>
              <a:ext uri="{FF2B5EF4-FFF2-40B4-BE49-F238E27FC236}">
                <a16:creationId xmlns:a16="http://schemas.microsoft.com/office/drawing/2014/main" id="{0D7E03FA-A4A4-659B-9C98-F9858A092035}"/>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0DE813F4-A1BC-FC73-A7B7-4407562968F5}"/>
              </a:ext>
            </a:extLst>
          </p:cNvPr>
          <p:cNvSpPr txBox="1"/>
          <p:nvPr/>
        </p:nvSpPr>
        <p:spPr>
          <a:xfrm>
            <a:off x="1057274" y="1148621"/>
            <a:ext cx="16230600" cy="9079409"/>
          </a:xfrm>
          <a:prstGeom prst="rect">
            <a:avLst/>
          </a:prstGeom>
          <a:solidFill>
            <a:schemeClr val="bg1">
              <a:lumMod val="85000"/>
            </a:schemeClr>
          </a:solidFill>
        </p:spPr>
        <p:txBody>
          <a:bodyPr wrap="square" rtlCol="0">
            <a:spAutoFit/>
          </a:bodyPr>
          <a:lstStyle/>
          <a:p>
            <a:r>
              <a:rPr lang="en-US" sz="3600" b="1" dirty="0"/>
              <a:t>Hardware </a:t>
            </a:r>
            <a:endParaRPr lang="en-US" sz="3600" dirty="0"/>
          </a:p>
          <a:p>
            <a:pPr lvl="0"/>
            <a:r>
              <a:rPr lang="en-US" sz="3200" dirty="0"/>
              <a:t>.Intel Core i3/i5 Processor or higher </a:t>
            </a:r>
          </a:p>
          <a:p>
            <a:pPr lvl="0"/>
            <a:r>
              <a:rPr lang="en-US" sz="3200" dirty="0"/>
              <a:t>.8 GB RAM or above </a:t>
            </a:r>
          </a:p>
          <a:p>
            <a:pPr lvl="0"/>
            <a:r>
              <a:rPr lang="en-US" sz="3200" dirty="0"/>
              <a:t>.Color SVGA</a:t>
            </a:r>
          </a:p>
          <a:p>
            <a:pPr lvl="0"/>
            <a:r>
              <a:rPr lang="en-US" sz="3200" dirty="0"/>
              <a:t>.500 GB Hard Disk space</a:t>
            </a:r>
          </a:p>
          <a:p>
            <a:pPr lvl="0"/>
            <a:r>
              <a:rPr lang="en-US" sz="3200" dirty="0"/>
              <a:t>.Mouse </a:t>
            </a:r>
          </a:p>
          <a:p>
            <a:pPr lvl="0"/>
            <a:r>
              <a:rPr lang="en-US" sz="3200" dirty="0"/>
              <a:t>.Keyboard</a:t>
            </a:r>
          </a:p>
          <a:p>
            <a:r>
              <a:rPr lang="en-US" sz="3200" dirty="0"/>
              <a:t> </a:t>
            </a:r>
          </a:p>
          <a:p>
            <a:r>
              <a:rPr lang="en-US" sz="3600" b="1" dirty="0"/>
              <a:t>Software</a:t>
            </a:r>
            <a:r>
              <a:rPr lang="en-US" sz="3200" b="1" dirty="0"/>
              <a:t> </a:t>
            </a:r>
            <a:endParaRPr lang="en-US" sz="3200" dirty="0"/>
          </a:p>
          <a:p>
            <a:r>
              <a:rPr lang="en-US" sz="3200" dirty="0"/>
              <a:t>.Technologies to be used: </a:t>
            </a:r>
          </a:p>
          <a:p>
            <a:pPr lvl="0"/>
            <a:r>
              <a:rPr lang="en-US" sz="3200" dirty="0"/>
              <a:t>.Frontend: HTML5, CSS, Bootstrap, JavaScript, jQuery, React/AngularJS, Figma, XML </a:t>
            </a:r>
          </a:p>
          <a:p>
            <a:pPr lvl="0"/>
            <a:r>
              <a:rPr lang="en-US" sz="3200" dirty="0"/>
              <a:t>.Data Store: JSON files or TXT files </a:t>
            </a:r>
          </a:p>
          <a:p>
            <a:r>
              <a:rPr lang="en-US" sz="3200" dirty="0"/>
              <a:t> </a:t>
            </a:r>
          </a:p>
          <a:p>
            <a:r>
              <a:rPr lang="en-US" sz="3200" dirty="0"/>
              <a:t>Other Requirements: </a:t>
            </a:r>
          </a:p>
          <a:p>
            <a:pPr lvl="0"/>
            <a:r>
              <a:rPr lang="en-US" sz="3200" dirty="0"/>
              <a:t>Operating Portal: Windows</a:t>
            </a:r>
          </a:p>
          <a:p>
            <a:pPr lvl="0"/>
            <a:r>
              <a:rPr lang="en-US" sz="3200" dirty="0"/>
              <a:t>Browsers: Edge, Chrome, Mozilla Firefox, Safari</a:t>
            </a:r>
          </a:p>
          <a:p>
            <a:endParaRPr lang="en-US" sz="3200" dirty="0"/>
          </a:p>
          <a:p>
            <a:endParaRPr lang="en-US" sz="3200" dirty="0"/>
          </a:p>
        </p:txBody>
      </p:sp>
      <p:sp>
        <p:nvSpPr>
          <p:cNvPr id="16" name="TextBox 15">
            <a:extLst>
              <a:ext uri="{FF2B5EF4-FFF2-40B4-BE49-F238E27FC236}">
                <a16:creationId xmlns:a16="http://schemas.microsoft.com/office/drawing/2014/main" id="{D6FBDF1A-C5E4-36A8-9119-17A624B2A30D}"/>
              </a:ext>
            </a:extLst>
          </p:cNvPr>
          <p:cNvSpPr txBox="1"/>
          <p:nvPr/>
        </p:nvSpPr>
        <p:spPr>
          <a:xfrm>
            <a:off x="3302730" y="209295"/>
            <a:ext cx="11739689" cy="769441"/>
          </a:xfrm>
          <a:prstGeom prst="rect">
            <a:avLst/>
          </a:prstGeom>
          <a:noFill/>
        </p:spPr>
        <p:txBody>
          <a:bodyPr wrap="square" rtlCol="0">
            <a:spAutoFit/>
          </a:bodyPr>
          <a:lstStyle/>
          <a:p>
            <a:r>
              <a:rPr lang="en-US" sz="4400" dirty="0"/>
              <a:t> </a:t>
            </a:r>
            <a:r>
              <a:rPr lang="en-US" sz="4400" b="1" dirty="0">
                <a:solidFill>
                  <a:srgbClr val="333333"/>
                </a:solidFill>
                <a:latin typeface="Maven Pro Bold"/>
                <a:sym typeface="Maven Pro Bold"/>
              </a:rPr>
              <a:t>SOFTWARE/HARDWARE REQUIREMENTS</a:t>
            </a:r>
            <a:endParaRPr lang="en-US" sz="4400" dirty="0"/>
          </a:p>
        </p:txBody>
      </p:sp>
    </p:spTree>
    <p:extLst>
      <p:ext uri="{BB962C8B-B14F-4D97-AF65-F5344CB8AC3E}">
        <p14:creationId xmlns:p14="http://schemas.microsoft.com/office/powerpoint/2010/main" val="3790660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FE997722-7A78-3DFA-8AA2-4842AC0486EC}"/>
              </a:ext>
            </a:extLst>
          </p:cNvPr>
          <p:cNvSpPr/>
          <p:nvPr/>
        </p:nvSpPr>
        <p:spPr>
          <a:xfrm flipH="1">
            <a:off x="28575" y="-2775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a:ln>
            <a:noFill/>
          </a:ln>
        </p:spPr>
        <p:txBody>
          <a:bodyPr/>
          <a:lstStyle/>
          <a:p>
            <a:endParaRPr lang="en-US" dirty="0"/>
          </a:p>
        </p:txBody>
      </p:sp>
      <p:sp>
        <p:nvSpPr>
          <p:cNvPr id="5" name="Freeform 3">
            <a:extLst>
              <a:ext uri="{FF2B5EF4-FFF2-40B4-BE49-F238E27FC236}">
                <a16:creationId xmlns:a16="http://schemas.microsoft.com/office/drawing/2014/main" id="{93E70353-C67D-A1D9-7866-EBB1B7E7AC1F}"/>
              </a:ext>
            </a:extLst>
          </p:cNvPr>
          <p:cNvSpPr/>
          <p:nvPr/>
        </p:nvSpPr>
        <p:spPr>
          <a:xfrm rot="5400000">
            <a:off x="94869" y="6356691"/>
            <a:ext cx="3867912" cy="4114800"/>
          </a:xfrm>
          <a:custGeom>
            <a:avLst/>
            <a:gdLst/>
            <a:ahLst/>
            <a:cxnLst/>
            <a:rect l="l" t="t" r="r" b="b"/>
            <a:pathLst>
              <a:path w="3867912" h="4114800">
                <a:moveTo>
                  <a:pt x="0" y="0"/>
                </a:moveTo>
                <a:lnTo>
                  <a:pt x="3867912" y="0"/>
                </a:lnTo>
                <a:lnTo>
                  <a:pt x="386791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4">
            <a:extLst>
              <a:ext uri="{FF2B5EF4-FFF2-40B4-BE49-F238E27FC236}">
                <a16:creationId xmlns:a16="http://schemas.microsoft.com/office/drawing/2014/main" id="{AB7602DC-7ECC-D9A2-31E7-A2076422FF2F}"/>
              </a:ext>
            </a:extLst>
          </p:cNvPr>
          <p:cNvSpPr/>
          <p:nvPr/>
        </p:nvSpPr>
        <p:spPr>
          <a:xfrm rot="5400000" flipH="1" flipV="1">
            <a:off x="14325219" y="-184491"/>
            <a:ext cx="3867912" cy="4114800"/>
          </a:xfrm>
          <a:custGeom>
            <a:avLst/>
            <a:gdLst/>
            <a:ahLst/>
            <a:cxnLst/>
            <a:rect l="l" t="t" r="r" b="b"/>
            <a:pathLst>
              <a:path w="3867912" h="4114800">
                <a:moveTo>
                  <a:pt x="3867912" y="4114800"/>
                </a:moveTo>
                <a:lnTo>
                  <a:pt x="0" y="4114800"/>
                </a:lnTo>
                <a:lnTo>
                  <a:pt x="0" y="0"/>
                </a:lnTo>
                <a:lnTo>
                  <a:pt x="3867912" y="0"/>
                </a:lnTo>
                <a:lnTo>
                  <a:pt x="386791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5">
            <a:extLst>
              <a:ext uri="{FF2B5EF4-FFF2-40B4-BE49-F238E27FC236}">
                <a16:creationId xmlns:a16="http://schemas.microsoft.com/office/drawing/2014/main" id="{0D850554-B148-F74F-F5AB-98E03D2ACB29}"/>
              </a:ext>
            </a:extLst>
          </p:cNvPr>
          <p:cNvSpPr/>
          <p:nvPr/>
        </p:nvSpPr>
        <p:spPr>
          <a:xfrm rot="19891233">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6">
            <a:extLst>
              <a:ext uri="{FF2B5EF4-FFF2-40B4-BE49-F238E27FC236}">
                <a16:creationId xmlns:a16="http://schemas.microsoft.com/office/drawing/2014/main" id="{8A65D883-B174-2349-6B5F-99E97CA5D59B}"/>
              </a:ext>
            </a:extLst>
          </p:cNvPr>
          <p:cNvSpPr/>
          <p:nvPr/>
        </p:nvSpPr>
        <p:spPr>
          <a:xfrm rot="19891233"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Rectangle 12">
            <a:extLst>
              <a:ext uri="{FF2B5EF4-FFF2-40B4-BE49-F238E27FC236}">
                <a16:creationId xmlns:a16="http://schemas.microsoft.com/office/drawing/2014/main" id="{D8C7BAC5-2957-8C18-97BF-C5779023B225}"/>
              </a:ext>
            </a:extLst>
          </p:cNvPr>
          <p:cNvSpPr/>
          <p:nvPr/>
        </p:nvSpPr>
        <p:spPr>
          <a:xfrm>
            <a:off x="1371600" y="1943100"/>
            <a:ext cx="16230600" cy="6858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6C48DAD4-2A1F-00B5-ADAA-C7A38A5BAB4A}"/>
              </a:ext>
            </a:extLst>
          </p:cNvPr>
          <p:cNvSpPr txBox="1"/>
          <p:nvPr/>
        </p:nvSpPr>
        <p:spPr>
          <a:xfrm>
            <a:off x="1028700" y="616952"/>
            <a:ext cx="16230600" cy="9510296"/>
          </a:xfrm>
          <a:prstGeom prst="rect">
            <a:avLst/>
          </a:prstGeom>
          <a:solidFill>
            <a:schemeClr val="bg1">
              <a:lumMod val="85000"/>
            </a:schemeClr>
          </a:solidFill>
        </p:spPr>
        <p:txBody>
          <a:bodyPr wrap="square" rtlCol="0">
            <a:spAutoFit/>
          </a:bodyPr>
          <a:lstStyle/>
          <a:p>
            <a:r>
              <a:rPr lang="en-US" sz="4000" b="1" dirty="0"/>
              <a:t>Project Deliverables</a:t>
            </a:r>
            <a:endParaRPr lang="en-US" sz="4000" dirty="0"/>
          </a:p>
          <a:p>
            <a:r>
              <a:rPr lang="en-US" sz="3600" dirty="0"/>
              <a:t>You will design and build the project and submit it along with a complete project</a:t>
            </a:r>
          </a:p>
          <a:p>
            <a:r>
              <a:rPr lang="en-US" sz="3600" dirty="0"/>
              <a:t>report that includes:</a:t>
            </a:r>
          </a:p>
          <a:p>
            <a:r>
              <a:rPr lang="en-US" sz="3600" dirty="0"/>
              <a:t>• Problem Definition</a:t>
            </a:r>
          </a:p>
          <a:p>
            <a:r>
              <a:rPr lang="en-US" sz="3600" dirty="0"/>
              <a:t>• Design specifications</a:t>
            </a:r>
          </a:p>
          <a:p>
            <a:r>
              <a:rPr lang="en-US" sz="3600" dirty="0"/>
              <a:t>• Diagrams such as flowcharts for various activities, Data Flow Diagrams etc.</a:t>
            </a:r>
          </a:p>
          <a:p>
            <a:r>
              <a:rPr lang="en-US" sz="3600" dirty="0"/>
              <a:t>• Source Code</a:t>
            </a:r>
          </a:p>
          <a:p>
            <a:r>
              <a:rPr lang="en-US" sz="3600" dirty="0"/>
              <a:t>• Test Data Used in the Project</a:t>
            </a:r>
          </a:p>
          <a:p>
            <a:r>
              <a:rPr lang="en-US" sz="3600" dirty="0"/>
              <a:t>• Project Installation Instructions (if any)</a:t>
            </a:r>
          </a:p>
          <a:p>
            <a:r>
              <a:rPr lang="en-US" sz="3600" dirty="0"/>
              <a:t>Documentation is considered as a very important part of the project. Ensure that documentation is complete and comprehensive. The consolidated project will be submitted as a zip file with a ReadMe.doc file listing assumptions (if any) made.</a:t>
            </a:r>
          </a:p>
          <a:p>
            <a:r>
              <a:rPr lang="en-US" sz="3600" b="1" dirty="0"/>
              <a:t>Submit a video clip demonstrating the working of the Website.</a:t>
            </a:r>
            <a:r>
              <a:rPr lang="en-US" sz="3600" dirty="0"/>
              <a:t> Optionally, a live hosted URL can be supplied for the site. Over and above the given specifications, you can apply your creativity and logic to improve the portal.</a:t>
            </a:r>
          </a:p>
          <a:p>
            <a:endParaRPr lang="en-US" sz="3600" dirty="0"/>
          </a:p>
          <a:p>
            <a:endParaRPr lang="en-US" sz="3600" dirty="0"/>
          </a:p>
        </p:txBody>
      </p:sp>
    </p:spTree>
    <p:extLst>
      <p:ext uri="{BB962C8B-B14F-4D97-AF65-F5344CB8AC3E}">
        <p14:creationId xmlns:p14="http://schemas.microsoft.com/office/powerpoint/2010/main" val="466625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2681" t="-8434" r="-5731" b="-11819"/>
            </a:stretch>
          </a:blipFill>
        </p:spPr>
      </p:sp>
      <p:sp>
        <p:nvSpPr>
          <p:cNvPr id="3" name="Freeform 3"/>
          <p:cNvSpPr/>
          <p:nvPr/>
        </p:nvSpPr>
        <p:spPr>
          <a:xfrm rot="-1708767">
            <a:off x="13197237" y="7996374"/>
            <a:ext cx="6878845" cy="4114800"/>
          </a:xfrm>
          <a:custGeom>
            <a:avLst/>
            <a:gdLst/>
            <a:ahLst/>
            <a:cxnLst/>
            <a:rect l="l" t="t" r="r" b="b"/>
            <a:pathLst>
              <a:path w="6878845" h="4114800">
                <a:moveTo>
                  <a:pt x="0" y="0"/>
                </a:moveTo>
                <a:lnTo>
                  <a:pt x="6878845" y="0"/>
                </a:lnTo>
                <a:lnTo>
                  <a:pt x="6878845"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708767" flipH="1" flipV="1">
            <a:off x="-1788082" y="-1824174"/>
            <a:ext cx="6878845" cy="4114800"/>
          </a:xfrm>
          <a:custGeom>
            <a:avLst/>
            <a:gdLst/>
            <a:ahLst/>
            <a:cxnLst/>
            <a:rect l="l" t="t" r="r" b="b"/>
            <a:pathLst>
              <a:path w="6878845" h="4114800">
                <a:moveTo>
                  <a:pt x="6878845" y="4114800"/>
                </a:moveTo>
                <a:lnTo>
                  <a:pt x="0" y="4114800"/>
                </a:lnTo>
                <a:lnTo>
                  <a:pt x="0" y="0"/>
                </a:lnTo>
                <a:lnTo>
                  <a:pt x="6878845" y="0"/>
                </a:lnTo>
                <a:lnTo>
                  <a:pt x="6878845"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747914" y="3553381"/>
            <a:ext cx="13340632" cy="2446363"/>
          </a:xfrm>
          <a:prstGeom prst="rect">
            <a:avLst/>
          </a:prstGeom>
        </p:spPr>
        <p:txBody>
          <a:bodyPr lIns="0" tIns="0" rIns="0" bIns="0" rtlCol="0" anchor="t">
            <a:spAutoFit/>
          </a:bodyPr>
          <a:lstStyle/>
          <a:p>
            <a:pPr algn="ctr">
              <a:lnSpc>
                <a:spcPts val="19940"/>
              </a:lnSpc>
            </a:pPr>
            <a:r>
              <a:rPr lang="en-US" sz="14243" b="1">
                <a:solidFill>
                  <a:srgbClr val="333333"/>
                </a:solidFill>
                <a:latin typeface="Maven Pro Bold"/>
                <a:ea typeface="Maven Pro Bold"/>
                <a:cs typeface="Maven Pro Bold"/>
                <a:sym typeface="Maven Pro Bold"/>
              </a:rPr>
              <a:t>THANK YOU</a:t>
            </a:r>
          </a:p>
        </p:txBody>
      </p:sp>
      <p:sp>
        <p:nvSpPr>
          <p:cNvPr id="6" name="Freeform 6"/>
          <p:cNvSpPr/>
          <p:nvPr/>
        </p:nvSpPr>
        <p:spPr>
          <a:xfrm rot="5400000">
            <a:off x="105177" y="6023399"/>
            <a:ext cx="4190896" cy="4458400"/>
          </a:xfrm>
          <a:custGeom>
            <a:avLst/>
            <a:gdLst/>
            <a:ahLst/>
            <a:cxnLst/>
            <a:rect l="l" t="t" r="r" b="b"/>
            <a:pathLst>
              <a:path w="4190896" h="4458400">
                <a:moveTo>
                  <a:pt x="0" y="0"/>
                </a:moveTo>
                <a:lnTo>
                  <a:pt x="4190896" y="0"/>
                </a:lnTo>
                <a:lnTo>
                  <a:pt x="4190896" y="4458400"/>
                </a:lnTo>
                <a:lnTo>
                  <a:pt x="0" y="44584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5400000" flipH="1" flipV="1">
            <a:off x="13994197" y="-194729"/>
            <a:ext cx="4188696" cy="4456059"/>
          </a:xfrm>
          <a:custGeom>
            <a:avLst/>
            <a:gdLst/>
            <a:ahLst/>
            <a:cxnLst/>
            <a:rect l="l" t="t" r="r" b="b"/>
            <a:pathLst>
              <a:path w="4188696" h="4456059">
                <a:moveTo>
                  <a:pt x="4188696" y="4456060"/>
                </a:moveTo>
                <a:lnTo>
                  <a:pt x="0" y="4456060"/>
                </a:lnTo>
                <a:lnTo>
                  <a:pt x="0" y="0"/>
                </a:lnTo>
                <a:lnTo>
                  <a:pt x="4188696" y="0"/>
                </a:lnTo>
                <a:lnTo>
                  <a:pt x="4188696" y="445606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1213</Words>
  <Application>Microsoft Office PowerPoint</Application>
  <PresentationFormat>Custom</PresentationFormat>
  <Paragraphs>110</Paragraphs>
  <Slides>12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Poppins Bold</vt:lpstr>
      <vt:lpstr>Arimo Bold Italics</vt:lpstr>
      <vt:lpstr>Book Antiqua</vt:lpstr>
      <vt:lpstr>Arial</vt:lpstr>
      <vt:lpstr>Poppins</vt:lpstr>
      <vt:lpstr>Calibri</vt:lpstr>
      <vt:lpstr>Times New Roman</vt:lpstr>
      <vt:lpstr>Arial Narrow</vt:lpstr>
      <vt:lpstr>Noto Sans Symbols</vt:lpstr>
      <vt:lpstr>Maven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 project</dc:title>
  <cp:lastModifiedBy>asp</cp:lastModifiedBy>
  <cp:revision>5</cp:revision>
  <dcterms:created xsi:type="dcterms:W3CDTF">2006-08-16T00:00:00Z</dcterms:created>
  <dcterms:modified xsi:type="dcterms:W3CDTF">2026-09-29T15:34:52Z</dcterms:modified>
  <dc:identifier>DAHWgzPVwzQ</dc:identifier>
</cp:coreProperties>
</file>